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66" r:id="rId4"/>
    <p:sldId id="259" r:id="rId5"/>
    <p:sldId id="268" r:id="rId6"/>
    <p:sldId id="269" r:id="rId7"/>
    <p:sldId id="270" r:id="rId8"/>
    <p:sldId id="267" r:id="rId9"/>
    <p:sldId id="271" r:id="rId10"/>
    <p:sldId id="264" r:id="rId11"/>
    <p:sldId id="265" r:id="rId12"/>
    <p:sldId id="27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301" autoAdjust="0"/>
    <p:restoredTop sz="94660"/>
  </p:normalViewPr>
  <p:slideViewPr>
    <p:cSldViewPr snapToGrid="0">
      <p:cViewPr varScale="1">
        <p:scale>
          <a:sx n="82" d="100"/>
          <a:sy n="82"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31B73ED-5A7F-49D9-8DE0-65F5ABD04C5E}" type="datetimeFigureOut">
              <a:rPr lang="en-IN" smtClean="0"/>
              <a:t>21-06-2026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66326A-A01E-48D9-9C79-95BB8A3B18F6}" type="slidenum">
              <a:rPr lang="en-IN" smtClean="0"/>
              <a:t>‹#›</a:t>
            </a:fld>
            <a:endParaRPr lang="en-IN"/>
          </a:p>
        </p:txBody>
      </p:sp>
    </p:spTree>
    <p:extLst>
      <p:ext uri="{BB962C8B-B14F-4D97-AF65-F5344CB8AC3E}">
        <p14:creationId xmlns:p14="http://schemas.microsoft.com/office/powerpoint/2010/main" val="12080572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b7223bd2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b7223bd2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646205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caee8303e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caee8303e0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647998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b7223bd2a0_0_3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b7223bd2a0_0_3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853674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b7223bd2a0_0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b7223bd2a0_0_3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309061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a:extLst>
            <a:ext uri="{FF2B5EF4-FFF2-40B4-BE49-F238E27FC236}">
              <a16:creationId xmlns:a16="http://schemas.microsoft.com/office/drawing/2014/main" id="{F2E9EA19-0911-2470-D9AC-EB9C3C0F04EC}"/>
            </a:ext>
          </a:extLst>
        </p:cNvPr>
        <p:cNvGrpSpPr/>
        <p:nvPr/>
      </p:nvGrpSpPr>
      <p:grpSpPr>
        <a:xfrm>
          <a:off x="0" y="0"/>
          <a:ext cx="0" cy="0"/>
          <a:chOff x="0" y="0"/>
          <a:chExt cx="0" cy="0"/>
        </a:xfrm>
      </p:grpSpPr>
      <p:sp>
        <p:nvSpPr>
          <p:cNvPr id="347" name="Google Shape;347;gb7223bd2a0_0_349:notes">
            <a:extLst>
              <a:ext uri="{FF2B5EF4-FFF2-40B4-BE49-F238E27FC236}">
                <a16:creationId xmlns:a16="http://schemas.microsoft.com/office/drawing/2014/main" id="{9D025597-9C59-C03C-6AFD-17B0786E9D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b7223bd2a0_0_349:notes">
            <a:extLst>
              <a:ext uri="{FF2B5EF4-FFF2-40B4-BE49-F238E27FC236}">
                <a16:creationId xmlns:a16="http://schemas.microsoft.com/office/drawing/2014/main" id="{5F383D70-DFDD-2B57-AE82-EF759BE637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4305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a:extLst>
            <a:ext uri="{FF2B5EF4-FFF2-40B4-BE49-F238E27FC236}">
              <a16:creationId xmlns:a16="http://schemas.microsoft.com/office/drawing/2014/main" id="{4018AAC2-1D37-ECA5-B559-96EEF0B3CC44}"/>
            </a:ext>
          </a:extLst>
        </p:cNvPr>
        <p:cNvGrpSpPr/>
        <p:nvPr/>
      </p:nvGrpSpPr>
      <p:grpSpPr>
        <a:xfrm>
          <a:off x="0" y="0"/>
          <a:ext cx="0" cy="0"/>
          <a:chOff x="0" y="0"/>
          <a:chExt cx="0" cy="0"/>
        </a:xfrm>
      </p:grpSpPr>
      <p:sp>
        <p:nvSpPr>
          <p:cNvPr id="347" name="Google Shape;347;gb7223bd2a0_0_349:notes">
            <a:extLst>
              <a:ext uri="{FF2B5EF4-FFF2-40B4-BE49-F238E27FC236}">
                <a16:creationId xmlns:a16="http://schemas.microsoft.com/office/drawing/2014/main" id="{7189F3E7-9251-A83F-6563-680554732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b7223bd2a0_0_349:notes">
            <a:extLst>
              <a:ext uri="{FF2B5EF4-FFF2-40B4-BE49-F238E27FC236}">
                <a16:creationId xmlns:a16="http://schemas.microsoft.com/office/drawing/2014/main" id="{8180E596-4492-D7AB-2A8B-F462CB7814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08561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a:extLst>
            <a:ext uri="{FF2B5EF4-FFF2-40B4-BE49-F238E27FC236}">
              <a16:creationId xmlns:a16="http://schemas.microsoft.com/office/drawing/2014/main" id="{548B818D-22D0-B719-B144-819CDC6247B6}"/>
            </a:ext>
          </a:extLst>
        </p:cNvPr>
        <p:cNvGrpSpPr/>
        <p:nvPr/>
      </p:nvGrpSpPr>
      <p:grpSpPr>
        <a:xfrm>
          <a:off x="0" y="0"/>
          <a:ext cx="0" cy="0"/>
          <a:chOff x="0" y="0"/>
          <a:chExt cx="0" cy="0"/>
        </a:xfrm>
      </p:grpSpPr>
      <p:sp>
        <p:nvSpPr>
          <p:cNvPr id="347" name="Google Shape;347;gb7223bd2a0_0_349:notes">
            <a:extLst>
              <a:ext uri="{FF2B5EF4-FFF2-40B4-BE49-F238E27FC236}">
                <a16:creationId xmlns:a16="http://schemas.microsoft.com/office/drawing/2014/main" id="{78C4D132-C854-E794-05AF-D43C947784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b7223bd2a0_0_349:notes">
            <a:extLst>
              <a:ext uri="{FF2B5EF4-FFF2-40B4-BE49-F238E27FC236}">
                <a16:creationId xmlns:a16="http://schemas.microsoft.com/office/drawing/2014/main" id="{B80C78D0-086B-A6DF-CE3A-45C497F4E47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90212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a:extLst>
            <a:ext uri="{FF2B5EF4-FFF2-40B4-BE49-F238E27FC236}">
              <a16:creationId xmlns:a16="http://schemas.microsoft.com/office/drawing/2014/main" id="{4FBB3570-003D-D10A-8EFC-D68C2CF5F0B0}"/>
            </a:ext>
          </a:extLst>
        </p:cNvPr>
        <p:cNvGrpSpPr/>
        <p:nvPr/>
      </p:nvGrpSpPr>
      <p:grpSpPr>
        <a:xfrm>
          <a:off x="0" y="0"/>
          <a:ext cx="0" cy="0"/>
          <a:chOff x="0" y="0"/>
          <a:chExt cx="0" cy="0"/>
        </a:xfrm>
      </p:grpSpPr>
      <p:sp>
        <p:nvSpPr>
          <p:cNvPr id="347" name="Google Shape;347;gb7223bd2a0_0_349:notes">
            <a:extLst>
              <a:ext uri="{FF2B5EF4-FFF2-40B4-BE49-F238E27FC236}">
                <a16:creationId xmlns:a16="http://schemas.microsoft.com/office/drawing/2014/main" id="{3461CD93-0FE6-F9C7-2B38-7266F1090B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b7223bd2a0_0_349:notes">
            <a:extLst>
              <a:ext uri="{FF2B5EF4-FFF2-40B4-BE49-F238E27FC236}">
                <a16:creationId xmlns:a16="http://schemas.microsoft.com/office/drawing/2014/main" id="{0D9CCE7D-D1DD-CAB7-585F-9453BA56DD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242129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b7223bd2a0_0_3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b7223bd2a0_0_3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14031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b7223bd2a0_0_3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b7223bd2a0_0_3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84105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538F6550-DC47-412E-A6BD-C043C18783D6}" type="datetimeFigureOut">
              <a:rPr lang="en-IN" smtClean="0"/>
              <a:t>21-06-2026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1367166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38F6550-DC47-412E-A6BD-C043C18783D6}" type="datetimeFigureOut">
              <a:rPr lang="en-IN" smtClean="0"/>
              <a:t>21-06-2026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3221499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38F6550-DC47-412E-A6BD-C043C18783D6}" type="datetimeFigureOut">
              <a:rPr lang="en-IN" smtClean="0"/>
              <a:t>21-06-2026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3848343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38F6550-DC47-412E-A6BD-C043C18783D6}" type="datetimeFigureOut">
              <a:rPr lang="en-IN" smtClean="0"/>
              <a:t>21-06-2026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884011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538F6550-DC47-412E-A6BD-C043C18783D6}" type="datetimeFigureOut">
              <a:rPr lang="en-IN" smtClean="0"/>
              <a:t>21-06-2026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21762912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538F6550-DC47-412E-A6BD-C043C18783D6}" type="datetimeFigureOut">
              <a:rPr lang="en-IN" smtClean="0"/>
              <a:t>21-06-2026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454250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8F6550-DC47-412E-A6BD-C043C18783D6}" type="datetimeFigureOut">
              <a:rPr lang="en-IN" smtClean="0"/>
              <a:t>21-06-2026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2837486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38F6550-DC47-412E-A6BD-C043C18783D6}" type="datetimeFigureOut">
              <a:rPr lang="en-IN" smtClean="0"/>
              <a:t>21-06-2026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21753283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38F6550-DC47-412E-A6BD-C043C18783D6}" type="datetimeFigureOut">
              <a:rPr lang="en-IN" smtClean="0"/>
              <a:t>21-06-2026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2760098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38F6550-DC47-412E-A6BD-C043C18783D6}" type="datetimeFigureOut">
              <a:rPr lang="en-IN" smtClean="0"/>
              <a:t>21-06-2026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10206214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38F6550-DC47-412E-A6BD-C043C18783D6}" type="datetimeFigureOut">
              <a:rPr lang="en-IN" smtClean="0"/>
              <a:t>21-06-2026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37D71CF-7B1B-462D-96FD-DE7121FB0FF9}" type="slidenum">
              <a:rPr lang="en-IN" smtClean="0"/>
              <a:t>‹#›</a:t>
            </a:fld>
            <a:endParaRPr lang="en-IN"/>
          </a:p>
        </p:txBody>
      </p:sp>
    </p:spTree>
    <p:extLst>
      <p:ext uri="{BB962C8B-B14F-4D97-AF65-F5344CB8AC3E}">
        <p14:creationId xmlns:p14="http://schemas.microsoft.com/office/powerpoint/2010/main" val="27781482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8F6550-DC47-412E-A6BD-C043C18783D6}" type="datetimeFigureOut">
              <a:rPr lang="en-IN" smtClean="0"/>
              <a:t>21-06-2026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37D71CF-7B1B-462D-96FD-DE7121FB0FF9}" type="slidenum">
              <a:rPr lang="en-IN" smtClean="0"/>
              <a:t>‹#›</a:t>
            </a:fld>
            <a:endParaRPr lang="en-IN"/>
          </a:p>
        </p:txBody>
      </p:sp>
    </p:spTree>
    <p:extLst>
      <p:ext uri="{BB962C8B-B14F-4D97-AF65-F5344CB8AC3E}">
        <p14:creationId xmlns:p14="http://schemas.microsoft.com/office/powerpoint/2010/main" val="27797929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archive.ics.uci.edu/dataset/601/ai4i+2020+predictive+maintenance+dataset"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pic>
        <p:nvPicPr>
          <p:cNvPr id="6" name="Picture 5">
            <a:extLst>
              <a:ext uri="{FF2B5EF4-FFF2-40B4-BE49-F238E27FC236}">
                <a16:creationId xmlns:a16="http://schemas.microsoft.com/office/drawing/2014/main" id="{43CDD6BF-C831-F711-282A-50C27359E9E7}"/>
              </a:ext>
            </a:extLst>
          </p:cNvPr>
          <p:cNvPicPr>
            <a:picLocks noChangeAspect="1"/>
          </p:cNvPicPr>
          <p:nvPr/>
        </p:nvPicPr>
        <p:blipFill>
          <a:blip r:embed="rId3">
            <a:alphaModFix amt="20000"/>
            <a:extLst>
              <a:ext uri="{BEBA8EAE-BF5A-486C-A8C5-ECC9F3942E4B}">
                <a14:imgProps xmlns:a14="http://schemas.microsoft.com/office/drawing/2010/main">
                  <a14:imgLayer r:embed="rId4">
                    <a14:imgEffect>
                      <a14:backgroundRemoval t="9967" b="89869" l="9967" r="91993">
                        <a14:foregroundMark x1="14216" y1="24673" x2="14216" y2="24673"/>
                        <a14:foregroundMark x1="55229" y1="16503" x2="55229" y2="16503"/>
                        <a14:foregroundMark x1="80556" y1="16503" x2="80556" y2="16503"/>
                        <a14:foregroundMark x1="74183" y1="48693" x2="74183" y2="48693"/>
                        <a14:foregroundMark x1="49346" y1="51471" x2="49346" y2="51471"/>
                        <a14:foregroundMark x1="20261" y1="47386" x2="20261" y2="47386"/>
                        <a14:foregroundMark x1="19281" y1="78431" x2="19281" y2="78431"/>
                        <a14:foregroundMark x1="53595" y1="75654" x2="53595" y2="75654"/>
                        <a14:foregroundMark x1="12092" y1="70915" x2="12092" y2="70915"/>
                        <a14:foregroundMark x1="91993" y1="77778" x2="91993" y2="77778"/>
                        <a14:foregroundMark x1="25980" y1="23366" x2="25980" y2="23366"/>
                        <a14:foregroundMark x1="53922" y1="24673" x2="53922" y2="24673"/>
                        <a14:foregroundMark x1="73039" y1="52614" x2="73039" y2="52614"/>
                        <a14:foregroundMark x1="54575" y1="82680" x2="54575" y2="82680"/>
                        <a14:foregroundMark x1="20915" y1="52941" x2="20915" y2="52941"/>
                      </a14:backgroundRemoval>
                    </a14:imgEffect>
                  </a14:imgLayer>
                </a14:imgProps>
              </a:ext>
              <a:ext uri="{28A0092B-C50C-407E-A947-70E740481C1C}">
                <a14:useLocalDpi xmlns:a14="http://schemas.microsoft.com/office/drawing/2010/main" val="0"/>
              </a:ext>
            </a:extLst>
          </a:blip>
          <a:stretch>
            <a:fillRect/>
          </a:stretch>
        </p:blipFill>
        <p:spPr>
          <a:xfrm>
            <a:off x="-298579" y="-470460"/>
            <a:ext cx="7529804" cy="7529804"/>
          </a:xfrm>
          <a:prstGeom prst="rect">
            <a:avLst/>
          </a:prstGeom>
        </p:spPr>
      </p:pic>
      <p:pic>
        <p:nvPicPr>
          <p:cNvPr id="7" name="Picture 6">
            <a:extLst>
              <a:ext uri="{FF2B5EF4-FFF2-40B4-BE49-F238E27FC236}">
                <a16:creationId xmlns:a16="http://schemas.microsoft.com/office/drawing/2014/main" id="{43B8B262-1E9F-B0C4-495F-10D807CF9FB8}"/>
              </a:ext>
            </a:extLst>
          </p:cNvPr>
          <p:cNvPicPr>
            <a:picLocks noChangeAspect="1"/>
          </p:cNvPicPr>
          <p:nvPr/>
        </p:nvPicPr>
        <p:blipFill>
          <a:blip r:embed="rId3">
            <a:alphaModFix amt="20000"/>
            <a:extLst>
              <a:ext uri="{BEBA8EAE-BF5A-486C-A8C5-ECC9F3942E4B}">
                <a14:imgProps xmlns:a14="http://schemas.microsoft.com/office/drawing/2010/main">
                  <a14:imgLayer r:embed="rId4">
                    <a14:imgEffect>
                      <a14:backgroundRemoval t="9967" b="89869" l="9967" r="91993">
                        <a14:foregroundMark x1="14216" y1="24673" x2="14216" y2="24673"/>
                        <a14:foregroundMark x1="55229" y1="16503" x2="55229" y2="16503"/>
                        <a14:foregroundMark x1="80556" y1="16503" x2="80556" y2="16503"/>
                        <a14:foregroundMark x1="74183" y1="48693" x2="74183" y2="48693"/>
                        <a14:foregroundMark x1="49346" y1="51471" x2="49346" y2="51471"/>
                        <a14:foregroundMark x1="20261" y1="47386" x2="20261" y2="47386"/>
                        <a14:foregroundMark x1="19281" y1="78431" x2="19281" y2="78431"/>
                        <a14:foregroundMark x1="53595" y1="75654" x2="53595" y2="75654"/>
                        <a14:foregroundMark x1="12092" y1="70915" x2="12092" y2="70915"/>
                        <a14:foregroundMark x1="91993" y1="77778" x2="91993" y2="77778"/>
                        <a14:foregroundMark x1="25980" y1="23366" x2="25980" y2="23366"/>
                        <a14:foregroundMark x1="53922" y1="24673" x2="53922" y2="24673"/>
                        <a14:foregroundMark x1="73039" y1="52614" x2="73039" y2="52614"/>
                        <a14:foregroundMark x1="54575" y1="82680" x2="54575" y2="82680"/>
                        <a14:foregroundMark x1="20915" y1="52941" x2="20915" y2="52941"/>
                      </a14:backgroundRemoval>
                    </a14:imgEffect>
                  </a14:imgLayer>
                </a14:imgProps>
              </a:ext>
              <a:ext uri="{28A0092B-C50C-407E-A947-70E740481C1C}">
                <a14:useLocalDpi xmlns:a14="http://schemas.microsoft.com/office/drawing/2010/main" val="0"/>
              </a:ext>
            </a:extLst>
          </a:blip>
          <a:srcRect r="23255"/>
          <a:stretch>
            <a:fillRect/>
          </a:stretch>
        </p:blipFill>
        <p:spPr>
          <a:xfrm>
            <a:off x="6413241" y="-768204"/>
            <a:ext cx="5778759" cy="7529804"/>
          </a:xfrm>
          <a:prstGeom prst="rect">
            <a:avLst/>
          </a:prstGeom>
        </p:spPr>
      </p:pic>
      <p:sp>
        <p:nvSpPr>
          <p:cNvPr id="330" name="Google Shape;330;p13"/>
          <p:cNvSpPr txBox="1"/>
          <p:nvPr/>
        </p:nvSpPr>
        <p:spPr>
          <a:xfrm>
            <a:off x="100498" y="1991760"/>
            <a:ext cx="11991004" cy="734389"/>
          </a:xfrm>
          <a:prstGeom prst="rect">
            <a:avLst/>
          </a:prstGeom>
          <a:solidFill>
            <a:schemeClr val="bg1"/>
          </a:solidFill>
          <a:ln>
            <a:noFill/>
          </a:ln>
        </p:spPr>
        <p:txBody>
          <a:bodyPr spcFirstLastPara="1" wrap="square" lIns="121900" tIns="121900" rIns="121900" bIns="121900" anchor="ctr" anchorCtr="0">
            <a:noAutofit/>
          </a:bodyPr>
          <a:lstStyle/>
          <a:p>
            <a:pPr algn="ctr"/>
            <a:r>
              <a:rPr lang="en-GB" sz="4000" b="1" dirty="0">
                <a:solidFill>
                  <a:srgbClr val="FF6A0E"/>
                </a:solidFill>
                <a:latin typeface="Roboto" panose="02000000000000000000" pitchFamily="2" charset="0"/>
                <a:ea typeface="Roboto" panose="02000000000000000000" pitchFamily="2" charset="0"/>
                <a:cs typeface="Roboto" panose="02000000000000000000" pitchFamily="2" charset="0"/>
              </a:rPr>
              <a:t>PREDICTIVE MAINTENANCE FOR MACHINERY</a:t>
            </a:r>
          </a:p>
        </p:txBody>
      </p:sp>
      <p:sp>
        <p:nvSpPr>
          <p:cNvPr id="334" name="Google Shape;334;p13"/>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buClr>
                <a:srgbClr val="000000"/>
              </a:buClr>
              <a:buSzPts val="1200"/>
            </a:pPr>
            <a:r>
              <a:rPr lang="en-GB" sz="1200" dirty="0">
                <a:solidFill>
                  <a:srgbClr val="FFFFFF"/>
                </a:solidFill>
                <a:latin typeface="Roboto" panose="02000000000000000000" pitchFamily="2" charset="0"/>
                <a:ea typeface="Roboto" panose="02000000000000000000" pitchFamily="2" charset="0"/>
                <a:cs typeface="Roboto" panose="02000000000000000000" pitchFamily="2" charset="0"/>
                <a:sym typeface="Roboto"/>
              </a:rPr>
              <a:t>© All rights reserved by </a:t>
            </a:r>
            <a:r>
              <a:rPr lang="en-GB" sz="1200" dirty="0" err="1">
                <a:solidFill>
                  <a:srgbClr val="FFFFFF"/>
                </a:solidFill>
                <a:latin typeface="Roboto" panose="02000000000000000000" pitchFamily="2" charset="0"/>
                <a:ea typeface="Roboto" panose="02000000000000000000" pitchFamily="2" charset="0"/>
                <a:cs typeface="Roboto" panose="02000000000000000000" pitchFamily="2" charset="0"/>
                <a:sym typeface="Roboto"/>
              </a:rPr>
              <a:t>Fireblaze</a:t>
            </a:r>
            <a:r>
              <a:rPr lang="en-GB" sz="1200" dirty="0">
                <a:solidFill>
                  <a:srgbClr val="FFFFFF"/>
                </a:solidFill>
                <a:latin typeface="Roboto" panose="02000000000000000000" pitchFamily="2" charset="0"/>
                <a:ea typeface="Roboto" panose="02000000000000000000" pitchFamily="2" charset="0"/>
                <a:cs typeface="Roboto" panose="02000000000000000000" pitchFamily="2" charset="0"/>
                <a:sym typeface="Roboto"/>
              </a:rPr>
              <a:t> Technologies </a:t>
            </a:r>
            <a:r>
              <a:rPr lang="en-GB" sz="1200" dirty="0" err="1">
                <a:solidFill>
                  <a:srgbClr val="FFFFFF"/>
                </a:solidFill>
                <a:latin typeface="Roboto" panose="02000000000000000000" pitchFamily="2" charset="0"/>
                <a:ea typeface="Roboto" panose="02000000000000000000" pitchFamily="2" charset="0"/>
                <a:cs typeface="Roboto" panose="02000000000000000000" pitchFamily="2" charset="0"/>
                <a:sym typeface="Roboto"/>
              </a:rPr>
              <a:t>Pvt.</a:t>
            </a:r>
            <a:r>
              <a:rPr lang="en-GB" sz="1200" dirty="0">
                <a:solidFill>
                  <a:srgbClr val="FFFFFF"/>
                </a:solidFill>
                <a:latin typeface="Roboto" panose="02000000000000000000" pitchFamily="2" charset="0"/>
                <a:ea typeface="Roboto" panose="02000000000000000000" pitchFamily="2" charset="0"/>
                <a:cs typeface="Roboto" panose="02000000000000000000" pitchFamily="2" charset="0"/>
                <a:sym typeface="Roboto"/>
              </a:rPr>
              <a:t> Ltd.</a:t>
            </a:r>
            <a:endParaRPr sz="1200" dirty="0">
              <a:solidFill>
                <a:srgbClr val="FFFFFF"/>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35" name="Google Shape;335;p13"/>
          <p:cNvSpPr/>
          <p:nvPr/>
        </p:nvSpPr>
        <p:spPr>
          <a:xfrm>
            <a:off x="-1340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pPr>
              <a:buClr>
                <a:srgbClr val="000000"/>
              </a:buClr>
              <a:buSzPts val="1400"/>
            </a:pPr>
            <a:endParaRPr sz="1867">
              <a:solidFill>
                <a:srgbClr val="000000"/>
              </a:solidFill>
              <a:latin typeface="Arial"/>
              <a:ea typeface="Arial"/>
              <a:cs typeface="Arial"/>
              <a:sym typeface="Arial"/>
            </a:endParaRPr>
          </a:p>
        </p:txBody>
      </p:sp>
      <p:sp>
        <p:nvSpPr>
          <p:cNvPr id="2" name="TextBox 1">
            <a:extLst>
              <a:ext uri="{FF2B5EF4-FFF2-40B4-BE49-F238E27FC236}">
                <a16:creationId xmlns:a16="http://schemas.microsoft.com/office/drawing/2014/main" id="{04D63B57-2B6C-4AEF-AA4E-F393A4E8B2DF}"/>
              </a:ext>
            </a:extLst>
          </p:cNvPr>
          <p:cNvSpPr txBox="1"/>
          <p:nvPr/>
        </p:nvSpPr>
        <p:spPr>
          <a:xfrm>
            <a:off x="4885226" y="4539843"/>
            <a:ext cx="2421548" cy="646331"/>
          </a:xfrm>
          <a:prstGeom prst="rect">
            <a:avLst/>
          </a:prstGeom>
          <a:solidFill>
            <a:schemeClr val="bg1"/>
          </a:solidFill>
        </p:spPr>
        <p:txBody>
          <a:bodyPr wrap="square" rtlCol="0">
            <a:spAutoFit/>
          </a:bodyPr>
          <a:lstStyle/>
          <a:p>
            <a:pPr algn="ctr"/>
            <a:r>
              <a:rPr lang="en-US" b="1" dirty="0">
                <a:solidFill>
                  <a:srgbClr val="FF6A0E"/>
                </a:solidFill>
                <a:latin typeface="Roboto" panose="02000000000000000000" pitchFamily="2" charset="0"/>
                <a:ea typeface="Roboto" panose="02000000000000000000" pitchFamily="2" charset="0"/>
                <a:cs typeface="Roboto" panose="02000000000000000000" pitchFamily="2" charset="0"/>
              </a:rPr>
              <a:t>Presented by: </a:t>
            </a:r>
          </a:p>
          <a:p>
            <a:pPr algn="ctr"/>
            <a:r>
              <a:rPr lang="en-US" b="1" dirty="0">
                <a:solidFill>
                  <a:srgbClr val="FF6A0E"/>
                </a:solidFill>
                <a:latin typeface="Roboto" panose="02000000000000000000" pitchFamily="2" charset="0"/>
                <a:ea typeface="Roboto" panose="02000000000000000000" pitchFamily="2" charset="0"/>
                <a:cs typeface="Roboto" panose="02000000000000000000" pitchFamily="2" charset="0"/>
              </a:rPr>
              <a:t>Juhi Moudekar</a:t>
            </a:r>
            <a:endParaRPr lang="en-IN" b="1" dirty="0">
              <a:solidFill>
                <a:srgbClr val="FF6A0E"/>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140596" y="172324"/>
            <a:ext cx="848809" cy="734389"/>
          </a:xfrm>
          <a:prstGeom prst="rect">
            <a:avLst/>
          </a:prstGeom>
        </p:spPr>
      </p:pic>
      <p:sp>
        <p:nvSpPr>
          <p:cNvPr id="4" name="TextBox 3">
            <a:extLst>
              <a:ext uri="{FF2B5EF4-FFF2-40B4-BE49-F238E27FC236}">
                <a16:creationId xmlns:a16="http://schemas.microsoft.com/office/drawing/2014/main" id="{5F4F5BDE-47F3-2124-9C82-D14150C2EE34}"/>
              </a:ext>
            </a:extLst>
          </p:cNvPr>
          <p:cNvSpPr txBox="1"/>
          <p:nvPr/>
        </p:nvSpPr>
        <p:spPr>
          <a:xfrm>
            <a:off x="3138676" y="3325217"/>
            <a:ext cx="6040016" cy="677108"/>
          </a:xfrm>
          <a:prstGeom prst="rect">
            <a:avLst/>
          </a:prstGeom>
          <a:solidFill>
            <a:schemeClr val="bg1"/>
          </a:solidFill>
        </p:spPr>
        <p:txBody>
          <a:bodyPr wrap="square" rtlCol="0">
            <a:spAutoFit/>
          </a:bodyPr>
          <a:lstStyle/>
          <a:p>
            <a:pPr algn="ctr"/>
            <a:r>
              <a:rPr lang="en-US" b="1" dirty="0">
                <a:solidFill>
                  <a:srgbClr val="FF6A0E"/>
                </a:solidFill>
                <a:latin typeface="Roboto" panose="02000000000000000000" pitchFamily="2" charset="0"/>
                <a:ea typeface="Roboto" panose="02000000000000000000" pitchFamily="2" charset="0"/>
                <a:cs typeface="Roboto" panose="02000000000000000000" pitchFamily="2" charset="0"/>
              </a:rPr>
              <a:t>TOOLS &amp; TECHNOLOGY USED:</a:t>
            </a:r>
            <a:endParaRPr lang="en-US" sz="2000" b="1" dirty="0">
              <a:solidFill>
                <a:srgbClr val="FF6A0E"/>
              </a:solidFill>
              <a:latin typeface="Roboto" panose="02000000000000000000" pitchFamily="2" charset="0"/>
              <a:ea typeface="Roboto" panose="02000000000000000000" pitchFamily="2" charset="0"/>
              <a:cs typeface="Roboto" panose="02000000000000000000" pitchFamily="2" charset="0"/>
            </a:endParaRPr>
          </a:p>
          <a:p>
            <a:pPr algn="ctr"/>
            <a:r>
              <a:rPr lang="en-US" sz="2000" b="1" dirty="0">
                <a:solidFill>
                  <a:srgbClr val="FF6A0E"/>
                </a:solidFill>
                <a:latin typeface="Roboto" panose="02000000000000000000" pitchFamily="2" charset="0"/>
                <a:ea typeface="Roboto" panose="02000000000000000000" pitchFamily="2" charset="0"/>
                <a:cs typeface="Roboto" panose="02000000000000000000" pitchFamily="2" charset="0"/>
              </a:rPr>
              <a:t>Supervised Machine Learning Technique, Python.</a:t>
            </a:r>
            <a:endParaRPr lang="en-IN" sz="2000" b="1" dirty="0">
              <a:solidFill>
                <a:srgbClr val="FF6A0E"/>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4787293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1" name="Google Shape;341;p14"/>
          <p:cNvSpPr txBox="1">
            <a:spLocks noGrp="1"/>
          </p:cNvSpPr>
          <p:nvPr>
            <p:ph type="ctrTitle"/>
          </p:nvPr>
        </p:nvSpPr>
        <p:spPr>
          <a:xfrm>
            <a:off x="-13400" y="0"/>
            <a:ext cx="12192000" cy="947680"/>
          </a:xfrm>
          <a:prstGeom prst="rect">
            <a:avLst/>
          </a:prstGeom>
          <a:solidFill>
            <a:srgbClr val="FF6A0E"/>
          </a:solidFill>
          <a:ln w="9525" cap="flat" cmpd="sng">
            <a:solidFill>
              <a:srgbClr val="FFFFFF"/>
            </a:solidFill>
            <a:prstDash val="solid"/>
            <a:round/>
            <a:headEnd type="none" w="sm" len="sm"/>
            <a:tailEnd type="none" w="sm" len="sm"/>
          </a:ln>
        </p:spPr>
        <p:txBody>
          <a:bodyPr spcFirstLastPara="1" vert="horz" wrap="square" lIns="121900" tIns="121900" rIns="121900" bIns="121900" rtlCol="0" anchor="t" anchorCtr="0">
            <a:noAutofit/>
          </a:bodyPr>
          <a:lstStyle/>
          <a:p>
            <a:pPr marL="599985">
              <a:lnSpc>
                <a:spcPct val="150000"/>
              </a:lnSpc>
              <a:spcBef>
                <a:spcPts val="0"/>
              </a:spcBef>
              <a:spcAft>
                <a:spcPts val="2133"/>
              </a:spcAft>
            </a:pPr>
            <a:r>
              <a:rPr lang="en-GB" sz="4000" b="1" dirty="0">
                <a:solidFill>
                  <a:srgbClr val="FFFFFF"/>
                </a:solidFill>
                <a:latin typeface="Roboto" panose="02000000000000000000" pitchFamily="2" charset="0"/>
                <a:ea typeface="Roboto" panose="02000000000000000000" pitchFamily="2" charset="0"/>
                <a:cs typeface="Roboto" panose="02000000000000000000" pitchFamily="2" charset="0"/>
                <a:sym typeface="Roboto"/>
              </a:rPr>
              <a:t>PROBLEM STATEMENT</a:t>
            </a:r>
          </a:p>
        </p:txBody>
      </p:sp>
      <p:sp>
        <p:nvSpPr>
          <p:cNvPr id="342" name="Google Shape;342;p14"/>
          <p:cNvSpPr txBox="1"/>
          <p:nvPr/>
        </p:nvSpPr>
        <p:spPr>
          <a:xfrm>
            <a:off x="26800" y="1069600"/>
            <a:ext cx="12192000" cy="5331200"/>
          </a:xfrm>
          <a:prstGeom prst="rect">
            <a:avLst/>
          </a:prstGeom>
          <a:noFill/>
          <a:ln>
            <a:noFill/>
          </a:ln>
        </p:spPr>
        <p:txBody>
          <a:bodyPr spcFirstLastPara="1" wrap="square" lIns="365733" tIns="365733" rIns="365733" bIns="365733" anchor="t" anchorCtr="0">
            <a:noAutofit/>
          </a:bodyPr>
          <a:lstStyle/>
          <a:p>
            <a:pPr marL="135463" algn="just">
              <a:lnSpc>
                <a:spcPct val="150000"/>
              </a:lnSpc>
              <a:buClr>
                <a:srgbClr val="000000"/>
              </a:buClr>
              <a:buSzPts val="2000"/>
            </a:pPr>
            <a:r>
              <a:rPr lang="en-IN" b="1" dirty="0">
                <a:solidFill>
                  <a:schemeClr val="accent2"/>
                </a:solidFill>
                <a:latin typeface="Roboto" panose="02000000000000000000" pitchFamily="2" charset="0"/>
                <a:ea typeface="Roboto" panose="02000000000000000000" pitchFamily="2" charset="0"/>
                <a:cs typeface="Roboto" panose="02000000000000000000" pitchFamily="2" charset="0"/>
              </a:rPr>
              <a:t>THE PROBLEM:</a:t>
            </a:r>
          </a:p>
          <a:p>
            <a:pPr marL="421213" indent="-285750" algn="just">
              <a:lnSpc>
                <a:spcPct val="150000"/>
              </a:lnSpc>
              <a:buClr>
                <a:srgbClr val="000000"/>
              </a:buClr>
              <a:buSzPts val="2000"/>
              <a:buFont typeface="Arial" panose="020B0604020202020204" pitchFamily="34" charset="0"/>
              <a:buChar char="•"/>
            </a:pPr>
            <a:r>
              <a:rPr lang="en-IN" sz="1600" dirty="0">
                <a:latin typeface="Roboto" panose="02000000000000000000" pitchFamily="2" charset="0"/>
                <a:ea typeface="Roboto" panose="02000000000000000000" pitchFamily="2" charset="0"/>
                <a:cs typeface="Roboto" panose="02000000000000000000" pitchFamily="2" charset="0"/>
              </a:rPr>
              <a:t>Traditional maintenance approaches are inefficient: reactive maintenance (fix-after-failure) causes unplanned downtime and production loss, while scheduled maintenance often services healthy machines unnecessarily or misses faster-than-expected wear. </a:t>
            </a:r>
          </a:p>
          <a:p>
            <a:pPr marL="421213" indent="-285750" algn="just">
              <a:lnSpc>
                <a:spcPct val="150000"/>
              </a:lnSpc>
              <a:buClr>
                <a:srgbClr val="000000"/>
              </a:buClr>
              <a:buSzPts val="2000"/>
              <a:buFont typeface="Arial" panose="020B0604020202020204" pitchFamily="34" charset="0"/>
              <a:buChar char="•"/>
            </a:pPr>
            <a:r>
              <a:rPr lang="en-IN" sz="1600" dirty="0">
                <a:latin typeface="Roboto" panose="02000000000000000000" pitchFamily="2" charset="0"/>
                <a:ea typeface="Roboto" panose="02000000000000000000" pitchFamily="2" charset="0"/>
                <a:cs typeface="Roboto" panose="02000000000000000000" pitchFamily="2" charset="0"/>
              </a:rPr>
              <a:t>Modern machines generate continuous sensor data (temperature, speed, torque, tool wear); an opportunity to predict failures before they happen instead of guessing on a fixed schedule. </a:t>
            </a:r>
          </a:p>
          <a:p>
            <a:pPr marL="421213" indent="-285750" algn="just">
              <a:lnSpc>
                <a:spcPct val="150000"/>
              </a:lnSpc>
              <a:buClr>
                <a:srgbClr val="000000"/>
              </a:buClr>
              <a:buSzPts val="2000"/>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Core question this project answers:</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a:t>
            </a:r>
            <a:r>
              <a:rPr lang="en-IN" sz="1600" dirty="0">
                <a:latin typeface="Roboto" panose="02000000000000000000" pitchFamily="2" charset="0"/>
                <a:ea typeface="Roboto" panose="02000000000000000000" pitchFamily="2" charset="0"/>
                <a:cs typeface="Roboto" panose="02000000000000000000" pitchFamily="2" charset="0"/>
              </a:rPr>
              <a:t>Can we use machine sensor readings to </a:t>
            </a:r>
          </a:p>
          <a:p>
            <a:pPr marL="135463" algn="just">
              <a:lnSpc>
                <a:spcPct val="150000"/>
              </a:lnSpc>
              <a:buClr>
                <a:srgbClr val="000000"/>
              </a:buClr>
              <a:buSzPts val="2000"/>
            </a:pPr>
            <a:r>
              <a:rPr lang="en-IN" sz="1600" dirty="0">
                <a:latin typeface="Roboto" panose="02000000000000000000" pitchFamily="2" charset="0"/>
                <a:ea typeface="Roboto" panose="02000000000000000000" pitchFamily="2" charset="0"/>
                <a:cs typeface="Roboto" panose="02000000000000000000" pitchFamily="2" charset="0"/>
              </a:rPr>
              <a:t>     (1) predict whether a machine is about to fail, and </a:t>
            </a:r>
          </a:p>
          <a:p>
            <a:pPr marL="135463" algn="just">
              <a:lnSpc>
                <a:spcPct val="150000"/>
              </a:lnSpc>
              <a:buClr>
                <a:srgbClr val="000000"/>
              </a:buClr>
              <a:buSzPts val="2000"/>
            </a:pPr>
            <a:r>
              <a:rPr lang="en-IN" sz="1600" dirty="0">
                <a:latin typeface="Roboto" panose="02000000000000000000" pitchFamily="2" charset="0"/>
                <a:ea typeface="Roboto" panose="02000000000000000000" pitchFamily="2" charset="0"/>
                <a:cs typeface="Roboto" panose="02000000000000000000" pitchFamily="2" charset="0"/>
              </a:rPr>
              <a:t>     (2) if so, identify what type of failure is occurring? </a:t>
            </a:r>
          </a:p>
          <a:p>
            <a:pPr marL="421213" indent="-285750" algn="just">
              <a:lnSpc>
                <a:spcPct val="150000"/>
              </a:lnSpc>
              <a:buClr>
                <a:srgbClr val="000000"/>
              </a:buClr>
              <a:buSzPts val="2000"/>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Key challenge:</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a:t>
            </a:r>
            <a:r>
              <a:rPr lang="en-IN" sz="1600" dirty="0">
                <a:latin typeface="Roboto" panose="02000000000000000000" pitchFamily="2" charset="0"/>
                <a:ea typeface="Roboto" panose="02000000000000000000" pitchFamily="2" charset="0"/>
                <a:cs typeface="Roboto" panose="02000000000000000000" pitchFamily="2" charset="0"/>
              </a:rPr>
              <a:t>Failures are rare. Only ~3.4% of machines in the dataset actually fail, making this a class-imbalance problem where a "lazy" model could look 96%+ accurate while being completely useless.</a:t>
            </a:r>
            <a:endParaRPr sz="1600" dirty="0">
              <a:solidFill>
                <a:schemeClr val="dk1"/>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43" name="Google Shape;343;p14"/>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r>
              <a:rPr lang="en-GB" sz="1200" dirty="0">
                <a:solidFill>
                  <a:srgbClr val="FFFFFF"/>
                </a:solidFill>
                <a:latin typeface="Roboto"/>
                <a:ea typeface="Roboto"/>
                <a:cs typeface="Roboto"/>
                <a:sym typeface="Roboto"/>
              </a:rPr>
              <a:t>© All rights reserved by </a:t>
            </a:r>
            <a:r>
              <a:rPr lang="en-GB" sz="1200" dirty="0" err="1">
                <a:solidFill>
                  <a:srgbClr val="FFFFFF"/>
                </a:solidFill>
                <a:latin typeface="Roboto"/>
                <a:ea typeface="Roboto"/>
                <a:cs typeface="Roboto"/>
                <a:sym typeface="Roboto"/>
              </a:rPr>
              <a:t>Fireblaze</a:t>
            </a:r>
            <a:r>
              <a:rPr lang="en-GB" sz="1200" dirty="0">
                <a:solidFill>
                  <a:srgbClr val="FFFFFF"/>
                </a:solidFill>
                <a:latin typeface="Roboto"/>
                <a:ea typeface="Roboto"/>
                <a:cs typeface="Roboto"/>
                <a:sym typeface="Roboto"/>
              </a:rPr>
              <a:t> Technologies </a:t>
            </a:r>
            <a:r>
              <a:rPr lang="en-GB" sz="1200" dirty="0" err="1">
                <a:solidFill>
                  <a:srgbClr val="FFFFFF"/>
                </a:solidFill>
                <a:latin typeface="Roboto"/>
                <a:ea typeface="Roboto"/>
                <a:cs typeface="Roboto"/>
                <a:sym typeface="Roboto"/>
              </a:rPr>
              <a:t>Pvt.</a:t>
            </a:r>
            <a:r>
              <a:rPr lang="en-GB" sz="1200" dirty="0">
                <a:solidFill>
                  <a:srgbClr val="FFFFFF"/>
                </a:solidFill>
                <a:latin typeface="Roboto"/>
                <a:ea typeface="Roboto"/>
                <a:cs typeface="Roboto"/>
                <a:sym typeface="Roboto"/>
              </a:rPr>
              <a:t> Ltd.</a:t>
            </a:r>
            <a:endParaRPr sz="1200" dirty="0">
              <a:solidFill>
                <a:srgbClr val="FFFFFF"/>
              </a:solidFill>
              <a:latin typeface="Roboto"/>
              <a:ea typeface="Roboto"/>
              <a:cs typeface="Roboto"/>
              <a:sym typeface="Roboto"/>
            </a:endParaRPr>
          </a:p>
        </p:txBody>
      </p:sp>
      <p:sp>
        <p:nvSpPr>
          <p:cNvPr id="344" name="Google Shape;344;p14"/>
          <p:cNvSpPr/>
          <p:nvPr/>
        </p:nvSpPr>
        <p:spPr>
          <a:xfrm rot="10800000">
            <a:off x="11516800" y="130333"/>
            <a:ext cx="675200" cy="7552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345" name="Google Shape;345;p14"/>
          <p:cNvSpPr/>
          <p:nvPr/>
        </p:nvSpPr>
        <p:spPr>
          <a:xfrm>
            <a:off x="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Tree>
    <p:extLst>
      <p:ext uri="{BB962C8B-B14F-4D97-AF65-F5344CB8AC3E}">
        <p14:creationId xmlns:p14="http://schemas.microsoft.com/office/powerpoint/2010/main" val="6920512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1" name="Google Shape;391;p19"/>
          <p:cNvSpPr txBox="1">
            <a:spLocks noGrp="1"/>
          </p:cNvSpPr>
          <p:nvPr>
            <p:ph type="ctrTitle"/>
          </p:nvPr>
        </p:nvSpPr>
        <p:spPr>
          <a:xfrm>
            <a:off x="0" y="0"/>
            <a:ext cx="12192000" cy="990211"/>
          </a:xfrm>
          <a:prstGeom prst="rect">
            <a:avLst/>
          </a:prstGeom>
          <a:solidFill>
            <a:srgbClr val="FF6A0E"/>
          </a:solidFill>
          <a:ln w="9525" cap="flat" cmpd="sng">
            <a:solidFill>
              <a:srgbClr val="FFFFFF"/>
            </a:solidFill>
            <a:prstDash val="solid"/>
            <a:round/>
            <a:headEnd type="none" w="sm" len="sm"/>
            <a:tailEnd type="none" w="sm" len="sm"/>
          </a:ln>
        </p:spPr>
        <p:txBody>
          <a:bodyPr spcFirstLastPara="1" vert="horz" wrap="square" lIns="121900" tIns="121900" rIns="121900" bIns="121900" rtlCol="0" anchor="t" anchorCtr="0">
            <a:noAutofit/>
          </a:bodyPr>
          <a:lstStyle/>
          <a:p>
            <a:pPr marL="599985">
              <a:lnSpc>
                <a:spcPct val="150000"/>
              </a:lnSpc>
              <a:spcBef>
                <a:spcPts val="0"/>
              </a:spcBef>
              <a:spcAft>
                <a:spcPts val="2133"/>
              </a:spcAft>
            </a:pPr>
            <a:r>
              <a:rPr lang="en-GB" sz="4000" b="1" dirty="0">
                <a:solidFill>
                  <a:srgbClr val="FFFFFF"/>
                </a:solidFill>
                <a:latin typeface="Roboto"/>
                <a:ea typeface="Roboto"/>
                <a:cs typeface="Roboto"/>
                <a:sym typeface="Roboto"/>
              </a:rPr>
              <a:t>ABOUT THE DATA</a:t>
            </a:r>
          </a:p>
        </p:txBody>
      </p:sp>
      <p:sp>
        <p:nvSpPr>
          <p:cNvPr id="392" name="Google Shape;392;p19"/>
          <p:cNvSpPr txBox="1"/>
          <p:nvPr/>
        </p:nvSpPr>
        <p:spPr>
          <a:xfrm>
            <a:off x="13400" y="984541"/>
            <a:ext cx="12192000" cy="5416259"/>
          </a:xfrm>
          <a:prstGeom prst="rect">
            <a:avLst/>
          </a:prstGeom>
          <a:noFill/>
          <a:ln>
            <a:noFill/>
          </a:ln>
        </p:spPr>
        <p:txBody>
          <a:bodyPr spcFirstLastPara="1" wrap="square" lIns="365733" tIns="365733" rIns="365733" bIns="365733" anchor="t" anchorCtr="0">
            <a:noAutofit/>
          </a:bodyPr>
          <a:lstStyle/>
          <a:p>
            <a:pPr marL="609585" algn="just">
              <a:lnSpc>
                <a:spcPct val="150000"/>
              </a:lnSpc>
              <a:spcBef>
                <a:spcPts val="2133"/>
              </a:spcBef>
              <a:spcAft>
                <a:spcPts val="2133"/>
              </a:spcAft>
            </a:pPr>
            <a:endParaRPr sz="2667" dirty="0">
              <a:solidFill>
                <a:schemeClr val="dk1"/>
              </a:solidFill>
              <a:latin typeface="Roboto"/>
              <a:ea typeface="Roboto"/>
              <a:cs typeface="Roboto"/>
              <a:sym typeface="Roboto"/>
            </a:endParaRPr>
          </a:p>
        </p:txBody>
      </p:sp>
      <p:sp>
        <p:nvSpPr>
          <p:cNvPr id="393" name="Google Shape;393;p19"/>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r>
              <a:rPr lang="en-GB" sz="1200" dirty="0">
                <a:solidFill>
                  <a:srgbClr val="FFFFFF"/>
                </a:solidFill>
                <a:latin typeface="Roboto"/>
                <a:ea typeface="Roboto"/>
                <a:cs typeface="Roboto"/>
                <a:sym typeface="Roboto"/>
              </a:rPr>
              <a:t>© All rights reserved by </a:t>
            </a:r>
            <a:r>
              <a:rPr lang="en-GB" sz="1200" dirty="0" err="1">
                <a:solidFill>
                  <a:srgbClr val="FFFFFF"/>
                </a:solidFill>
                <a:latin typeface="Roboto"/>
                <a:ea typeface="Roboto"/>
                <a:cs typeface="Roboto"/>
                <a:sym typeface="Roboto"/>
              </a:rPr>
              <a:t>Fireblaze</a:t>
            </a:r>
            <a:r>
              <a:rPr lang="en-GB" sz="1200" dirty="0">
                <a:solidFill>
                  <a:srgbClr val="FFFFFF"/>
                </a:solidFill>
                <a:latin typeface="Roboto"/>
                <a:ea typeface="Roboto"/>
                <a:cs typeface="Roboto"/>
                <a:sym typeface="Roboto"/>
              </a:rPr>
              <a:t> Technologies </a:t>
            </a:r>
            <a:r>
              <a:rPr lang="en-GB" sz="1200" dirty="0" err="1">
                <a:solidFill>
                  <a:srgbClr val="FFFFFF"/>
                </a:solidFill>
                <a:latin typeface="Roboto"/>
                <a:ea typeface="Roboto"/>
                <a:cs typeface="Roboto"/>
                <a:sym typeface="Roboto"/>
              </a:rPr>
              <a:t>Pvt.</a:t>
            </a:r>
            <a:r>
              <a:rPr lang="en-GB" sz="1200" dirty="0">
                <a:solidFill>
                  <a:srgbClr val="FFFFFF"/>
                </a:solidFill>
                <a:latin typeface="Roboto"/>
                <a:ea typeface="Roboto"/>
                <a:cs typeface="Roboto"/>
                <a:sym typeface="Roboto"/>
              </a:rPr>
              <a:t> Ltd.</a:t>
            </a:r>
            <a:endParaRPr sz="1200" dirty="0">
              <a:solidFill>
                <a:srgbClr val="FFFFFF"/>
              </a:solidFill>
              <a:latin typeface="Roboto"/>
              <a:ea typeface="Roboto"/>
              <a:cs typeface="Roboto"/>
              <a:sym typeface="Roboto"/>
            </a:endParaRPr>
          </a:p>
        </p:txBody>
      </p:sp>
      <p:sp>
        <p:nvSpPr>
          <p:cNvPr id="394" name="Google Shape;394;p19"/>
          <p:cNvSpPr/>
          <p:nvPr/>
        </p:nvSpPr>
        <p:spPr>
          <a:xfrm rot="10800000">
            <a:off x="11516800" y="130333"/>
            <a:ext cx="675200" cy="7552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395" name="Google Shape;395;p19"/>
          <p:cNvSpPr/>
          <p:nvPr/>
        </p:nvSpPr>
        <p:spPr>
          <a:xfrm>
            <a:off x="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2" name="Google Shape;392;p19">
            <a:extLst>
              <a:ext uri="{FF2B5EF4-FFF2-40B4-BE49-F238E27FC236}">
                <a16:creationId xmlns:a16="http://schemas.microsoft.com/office/drawing/2014/main" id="{2E7DC3D3-2CC9-4823-8347-B9E8751FD28A}"/>
              </a:ext>
            </a:extLst>
          </p:cNvPr>
          <p:cNvSpPr txBox="1"/>
          <p:nvPr/>
        </p:nvSpPr>
        <p:spPr>
          <a:xfrm>
            <a:off x="149289" y="1179886"/>
            <a:ext cx="11728580" cy="4926563"/>
          </a:xfrm>
          <a:prstGeom prst="rect">
            <a:avLst/>
          </a:prstGeom>
          <a:noFill/>
          <a:ln>
            <a:noFill/>
          </a:ln>
        </p:spPr>
        <p:txBody>
          <a:bodyPr spcFirstLastPara="1" wrap="square" lIns="365733" tIns="365733" rIns="365733" bIns="365733" anchor="t" anchorCtr="0">
            <a:noAutofit/>
          </a:bodyPr>
          <a:lstStyle/>
          <a:p>
            <a:pPr>
              <a:lnSpc>
                <a:spcPct val="150000"/>
              </a:lnSpc>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1. Dataset: </a:t>
            </a:r>
            <a:r>
              <a:rPr lang="en-IN" sz="1600" dirty="0">
                <a:latin typeface="Roboto" panose="02000000000000000000" pitchFamily="2" charset="0"/>
                <a:ea typeface="Roboto" panose="02000000000000000000" pitchFamily="2" charset="0"/>
                <a:cs typeface="Roboto" panose="02000000000000000000" pitchFamily="2" charset="0"/>
              </a:rPr>
              <a:t>AI4I 2020 Predictive Maintenance Dataset</a:t>
            </a:r>
            <a:br>
              <a:rPr lang="en-IN" sz="1600" dirty="0">
                <a:latin typeface="Roboto" panose="02000000000000000000" pitchFamily="2" charset="0"/>
                <a:ea typeface="Roboto" panose="02000000000000000000" pitchFamily="2" charset="0"/>
                <a:cs typeface="Roboto" panose="02000000000000000000" pitchFamily="2" charset="0"/>
              </a:rPr>
            </a:b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2. Source: </a:t>
            </a:r>
            <a:r>
              <a:rPr lang="en-IN" sz="1600" dirty="0">
                <a:latin typeface="Roboto" panose="02000000000000000000" pitchFamily="2" charset="0"/>
                <a:ea typeface="Roboto" panose="02000000000000000000" pitchFamily="2" charset="0"/>
                <a:cs typeface="Roboto" panose="02000000000000000000" pitchFamily="2" charset="0"/>
              </a:rPr>
              <a:t>UCI Machine Learning Repository</a:t>
            </a:r>
            <a:br>
              <a:rPr lang="en-IN" sz="1600" dirty="0">
                <a:latin typeface="Roboto" panose="02000000000000000000" pitchFamily="2" charset="0"/>
                <a:ea typeface="Roboto" panose="02000000000000000000" pitchFamily="2" charset="0"/>
                <a:cs typeface="Roboto" panose="02000000000000000000" pitchFamily="2" charset="0"/>
              </a:rPr>
            </a:b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3. URL: </a:t>
            </a:r>
            <a:r>
              <a:rPr lang="en-IN" sz="1600" dirty="0">
                <a:latin typeface="Roboto" panose="02000000000000000000" pitchFamily="2" charset="0"/>
                <a:ea typeface="Roboto" panose="02000000000000000000" pitchFamily="2" charset="0"/>
                <a:cs typeface="Roboto" panose="02000000000000000000" pitchFamily="2" charset="0"/>
                <a:hlinkClick r:id="rId3"/>
              </a:rPr>
              <a:t>https://archive.ics.uci.edu/dataset/601/ai4i+2020+predictive+maintenance+dataset</a:t>
            </a:r>
            <a:br>
              <a:rPr lang="en-IN" sz="1600" dirty="0">
                <a:latin typeface="Roboto" panose="02000000000000000000" pitchFamily="2" charset="0"/>
                <a:ea typeface="Roboto" panose="02000000000000000000" pitchFamily="2" charset="0"/>
                <a:cs typeface="Roboto" panose="02000000000000000000" pitchFamily="2" charset="0"/>
              </a:rPr>
            </a:b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4. Description:</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a:t>
            </a:r>
            <a:r>
              <a:rPr lang="en-IN" sz="1600" dirty="0">
                <a:latin typeface="Roboto" panose="02000000000000000000" pitchFamily="2" charset="0"/>
                <a:ea typeface="Roboto" panose="02000000000000000000" pitchFamily="2" charset="0"/>
                <a:cs typeface="Roboto" panose="02000000000000000000" pitchFamily="2" charset="0"/>
              </a:rPr>
              <a:t>A synthetic dataset (10,000 records, 14 features) modelled on real industrial milling machine operations, including sensor readings such as air temperature, process temperature, rotational speed, torque, and tool wear, along with binary failure labels and five specific failure-type flags (TWF, HDF, PWF, OSF, RNF).</a:t>
            </a:r>
            <a:endParaRPr sz="1600" dirty="0">
              <a:solidFill>
                <a:schemeClr val="dk1"/>
              </a:solidFill>
              <a:latin typeface="Roboto" panose="02000000000000000000" pitchFamily="2" charset="0"/>
              <a:ea typeface="Roboto" panose="02000000000000000000" pitchFamily="2" charset="0"/>
              <a:cs typeface="Roboto" panose="02000000000000000000" pitchFamily="2" charset="0"/>
              <a:sym typeface="Roboto"/>
            </a:endParaRPr>
          </a:p>
        </p:txBody>
      </p:sp>
      <p:pic>
        <p:nvPicPr>
          <p:cNvPr id="4" name="Picture 3">
            <a:extLst>
              <a:ext uri="{FF2B5EF4-FFF2-40B4-BE49-F238E27FC236}">
                <a16:creationId xmlns:a16="http://schemas.microsoft.com/office/drawing/2014/main" id="{CADE6CA7-979F-262A-DBBC-815087193209}"/>
              </a:ext>
            </a:extLst>
          </p:cNvPr>
          <p:cNvPicPr>
            <a:picLocks noChangeAspect="1"/>
          </p:cNvPicPr>
          <p:nvPr/>
        </p:nvPicPr>
        <p:blipFill>
          <a:blip r:embed="rId4"/>
          <a:stretch>
            <a:fillRect/>
          </a:stretch>
        </p:blipFill>
        <p:spPr>
          <a:xfrm>
            <a:off x="804857" y="3894018"/>
            <a:ext cx="10417443" cy="2105565"/>
          </a:xfrm>
          <a:prstGeom prst="rect">
            <a:avLst/>
          </a:prstGeom>
          <a:ln w="9525">
            <a:solidFill>
              <a:schemeClr val="accent2"/>
            </a:solidFill>
          </a:ln>
        </p:spPr>
      </p:pic>
    </p:spTree>
    <p:extLst>
      <p:ext uri="{BB962C8B-B14F-4D97-AF65-F5344CB8AC3E}">
        <p14:creationId xmlns:p14="http://schemas.microsoft.com/office/powerpoint/2010/main" val="30788556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1" name="Google Shape;351;p15"/>
          <p:cNvSpPr txBox="1">
            <a:spLocks noGrp="1"/>
          </p:cNvSpPr>
          <p:nvPr>
            <p:ph type="ctrTitle"/>
          </p:nvPr>
        </p:nvSpPr>
        <p:spPr>
          <a:xfrm>
            <a:off x="0" y="0"/>
            <a:ext cx="12192000" cy="990211"/>
          </a:xfrm>
          <a:prstGeom prst="rect">
            <a:avLst/>
          </a:prstGeom>
          <a:solidFill>
            <a:srgbClr val="FF6A0E"/>
          </a:solidFill>
          <a:ln w="9525" cap="flat" cmpd="sng">
            <a:solidFill>
              <a:srgbClr val="FFFFFF"/>
            </a:solidFill>
            <a:prstDash val="solid"/>
            <a:round/>
            <a:headEnd type="none" w="sm" len="sm"/>
            <a:tailEnd type="none" w="sm" len="sm"/>
          </a:ln>
        </p:spPr>
        <p:txBody>
          <a:bodyPr spcFirstLastPara="1" vert="horz" wrap="square" lIns="121900" tIns="121900" rIns="121900" bIns="121900" rtlCol="0" anchor="t" anchorCtr="0">
            <a:noAutofit/>
          </a:bodyPr>
          <a:lstStyle/>
          <a:p>
            <a:pPr marL="599985">
              <a:lnSpc>
                <a:spcPct val="150000"/>
              </a:lnSpc>
              <a:spcBef>
                <a:spcPts val="0"/>
              </a:spcBef>
              <a:spcAft>
                <a:spcPts val="2133"/>
              </a:spcAft>
            </a:pPr>
            <a:r>
              <a:rPr lang="en-IN" sz="4000" b="1" dirty="0">
                <a:solidFill>
                  <a:schemeClr val="bg1"/>
                </a:solidFill>
                <a:latin typeface="Roboto" panose="02000000000000000000" pitchFamily="2" charset="0"/>
                <a:ea typeface="Roboto" panose="02000000000000000000" pitchFamily="2" charset="0"/>
                <a:cs typeface="Roboto" panose="02000000000000000000" pitchFamily="2" charset="0"/>
              </a:rPr>
              <a:t>CLASS IMBALANCE</a:t>
            </a:r>
            <a:endParaRPr lang="en-GB" sz="4000" b="1" dirty="0">
              <a:solidFill>
                <a:schemeClr val="bg1"/>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52" name="Google Shape;352;p15"/>
          <p:cNvSpPr txBox="1"/>
          <p:nvPr/>
        </p:nvSpPr>
        <p:spPr>
          <a:xfrm>
            <a:off x="-13400" y="885534"/>
            <a:ext cx="12192000" cy="5331200"/>
          </a:xfrm>
          <a:prstGeom prst="rect">
            <a:avLst/>
          </a:prstGeom>
          <a:noFill/>
          <a:ln>
            <a:noFill/>
          </a:ln>
        </p:spPr>
        <p:txBody>
          <a:bodyPr spcFirstLastPara="1" wrap="square" lIns="365733" tIns="365733" rIns="365733" bIns="365733" anchor="t" anchorCtr="0">
            <a:noAutofit/>
          </a:bodyPr>
          <a:lstStyle/>
          <a:p>
            <a:pPr algn="ctr">
              <a:lnSpc>
                <a:spcPct val="150000"/>
              </a:lnSpc>
            </a:pPr>
            <a:r>
              <a:rPr lang="en-IN" b="1" dirty="0">
                <a:solidFill>
                  <a:schemeClr val="accent2"/>
                </a:solidFill>
                <a:latin typeface="Roboto" panose="02000000000000000000" pitchFamily="2" charset="0"/>
                <a:ea typeface="Roboto" panose="02000000000000000000" pitchFamily="2" charset="0"/>
                <a:cs typeface="Roboto" panose="02000000000000000000" pitchFamily="2" charset="0"/>
              </a:rPr>
              <a:t>Severe Class Imbalance in the Target Variable</a:t>
            </a:r>
            <a:endParaRPr b="1" dirty="0">
              <a:solidFill>
                <a:schemeClr val="accent2"/>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53" name="Google Shape;353;p15"/>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r>
              <a:rPr lang="en-GB" sz="1200" dirty="0">
                <a:solidFill>
                  <a:srgbClr val="FFFFFF"/>
                </a:solidFill>
                <a:latin typeface="Roboto"/>
                <a:ea typeface="Roboto"/>
                <a:cs typeface="Roboto"/>
                <a:sym typeface="Roboto"/>
              </a:rPr>
              <a:t>© All rights reserved by </a:t>
            </a:r>
            <a:r>
              <a:rPr lang="en-GB" sz="1200" dirty="0" err="1">
                <a:solidFill>
                  <a:srgbClr val="FFFFFF"/>
                </a:solidFill>
                <a:latin typeface="Roboto"/>
                <a:ea typeface="Roboto"/>
                <a:cs typeface="Roboto"/>
                <a:sym typeface="Roboto"/>
              </a:rPr>
              <a:t>Fireblaze</a:t>
            </a:r>
            <a:r>
              <a:rPr lang="en-GB" sz="1200" dirty="0">
                <a:solidFill>
                  <a:srgbClr val="FFFFFF"/>
                </a:solidFill>
                <a:latin typeface="Roboto"/>
                <a:ea typeface="Roboto"/>
                <a:cs typeface="Roboto"/>
                <a:sym typeface="Roboto"/>
              </a:rPr>
              <a:t> Technologies </a:t>
            </a:r>
            <a:r>
              <a:rPr lang="en-GB" sz="1200" dirty="0" err="1">
                <a:solidFill>
                  <a:srgbClr val="FFFFFF"/>
                </a:solidFill>
                <a:latin typeface="Roboto"/>
                <a:ea typeface="Roboto"/>
                <a:cs typeface="Roboto"/>
                <a:sym typeface="Roboto"/>
              </a:rPr>
              <a:t>Pvt.</a:t>
            </a:r>
            <a:r>
              <a:rPr lang="en-GB" sz="1200" dirty="0">
                <a:solidFill>
                  <a:srgbClr val="FFFFFF"/>
                </a:solidFill>
                <a:latin typeface="Roboto"/>
                <a:ea typeface="Roboto"/>
                <a:cs typeface="Roboto"/>
                <a:sym typeface="Roboto"/>
              </a:rPr>
              <a:t> Ltd.</a:t>
            </a:r>
            <a:endParaRPr sz="1200" dirty="0">
              <a:solidFill>
                <a:srgbClr val="FFFFFF"/>
              </a:solidFill>
              <a:latin typeface="Roboto"/>
              <a:ea typeface="Roboto"/>
              <a:cs typeface="Roboto"/>
              <a:sym typeface="Roboto"/>
            </a:endParaRPr>
          </a:p>
        </p:txBody>
      </p:sp>
      <p:sp>
        <p:nvSpPr>
          <p:cNvPr id="354" name="Google Shape;354;p15"/>
          <p:cNvSpPr/>
          <p:nvPr/>
        </p:nvSpPr>
        <p:spPr>
          <a:xfrm rot="10800000">
            <a:off x="11516800" y="130333"/>
            <a:ext cx="675200" cy="7552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355" name="Google Shape;355;p15"/>
          <p:cNvSpPr/>
          <p:nvPr/>
        </p:nvSpPr>
        <p:spPr>
          <a:xfrm>
            <a:off x="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pic>
        <p:nvPicPr>
          <p:cNvPr id="3" name="Picture 2">
            <a:extLst>
              <a:ext uri="{FF2B5EF4-FFF2-40B4-BE49-F238E27FC236}">
                <a16:creationId xmlns:a16="http://schemas.microsoft.com/office/drawing/2014/main" id="{8254D2B9-A92A-02A2-AC93-451BB0B527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1497" y="1970724"/>
            <a:ext cx="6391469" cy="352895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TextBox 3">
            <a:extLst>
              <a:ext uri="{FF2B5EF4-FFF2-40B4-BE49-F238E27FC236}">
                <a16:creationId xmlns:a16="http://schemas.microsoft.com/office/drawing/2014/main" id="{3BDCA4CE-4237-A841-535C-487B7FDDF1F8}"/>
              </a:ext>
            </a:extLst>
          </p:cNvPr>
          <p:cNvSpPr txBox="1"/>
          <p:nvPr/>
        </p:nvSpPr>
        <p:spPr>
          <a:xfrm>
            <a:off x="1950840" y="5719405"/>
            <a:ext cx="9903560" cy="461665"/>
          </a:xfrm>
          <a:prstGeom prst="rect">
            <a:avLst/>
          </a:prstGeom>
          <a:noFill/>
        </p:spPr>
        <p:txBody>
          <a:bodyPr wrap="square" rtlCol="0">
            <a:spAutoFit/>
          </a:bodyPr>
          <a:lstStyle/>
          <a:p>
            <a:pPr marL="285750" indent="-285750">
              <a:buFont typeface="Arial" panose="020B0604020202020204" pitchFamily="34" charset="0"/>
              <a:buChar char="•"/>
            </a:pPr>
            <a:r>
              <a:rPr lang="en-IN" sz="1200" dirty="0">
                <a:latin typeface="Roboto" panose="02000000000000000000" pitchFamily="2" charset="0"/>
                <a:ea typeface="Roboto" panose="02000000000000000000" pitchFamily="2" charset="0"/>
                <a:cs typeface="Roboto" panose="02000000000000000000" pitchFamily="2" charset="0"/>
              </a:rPr>
              <a:t>Only ~339 of 10,000 machines (3.4%) failed, making this a severely imbalanced classification problem </a:t>
            </a:r>
          </a:p>
          <a:p>
            <a:pPr marL="285750" indent="-285750">
              <a:buFont typeface="Arial" panose="020B0604020202020204" pitchFamily="34" charset="0"/>
              <a:buChar char="•"/>
            </a:pPr>
            <a:r>
              <a:rPr lang="en-IN" sz="1200" dirty="0">
                <a:latin typeface="Roboto" panose="02000000000000000000" pitchFamily="2" charset="0"/>
                <a:ea typeface="Roboto" panose="02000000000000000000" pitchFamily="2" charset="0"/>
                <a:cs typeface="Roboto" panose="02000000000000000000" pitchFamily="2" charset="0"/>
              </a:rPr>
              <a:t>A model that always predicts "no failure" would still score ~97% accuracy — proving that accuracy alone is the wrong metric here</a:t>
            </a:r>
          </a:p>
        </p:txBody>
      </p:sp>
    </p:spTree>
    <p:extLst>
      <p:ext uri="{BB962C8B-B14F-4D97-AF65-F5344CB8AC3E}">
        <p14:creationId xmlns:p14="http://schemas.microsoft.com/office/powerpoint/2010/main" val="34998121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9">
          <a:extLst>
            <a:ext uri="{FF2B5EF4-FFF2-40B4-BE49-F238E27FC236}">
              <a16:creationId xmlns:a16="http://schemas.microsoft.com/office/drawing/2014/main" id="{7D26359C-AF3E-1C7D-27ED-D0127F543FAD}"/>
            </a:ext>
          </a:extLst>
        </p:cNvPr>
        <p:cNvGrpSpPr/>
        <p:nvPr/>
      </p:nvGrpSpPr>
      <p:grpSpPr>
        <a:xfrm>
          <a:off x="0" y="0"/>
          <a:ext cx="0" cy="0"/>
          <a:chOff x="0" y="0"/>
          <a:chExt cx="0" cy="0"/>
        </a:xfrm>
      </p:grpSpPr>
      <p:sp>
        <p:nvSpPr>
          <p:cNvPr id="351" name="Google Shape;351;p15">
            <a:extLst>
              <a:ext uri="{FF2B5EF4-FFF2-40B4-BE49-F238E27FC236}">
                <a16:creationId xmlns:a16="http://schemas.microsoft.com/office/drawing/2014/main" id="{448E93FC-2EA2-3FC7-A074-F11FDFED4557}"/>
              </a:ext>
            </a:extLst>
          </p:cNvPr>
          <p:cNvSpPr txBox="1">
            <a:spLocks noGrp="1"/>
          </p:cNvSpPr>
          <p:nvPr>
            <p:ph type="ctrTitle"/>
          </p:nvPr>
        </p:nvSpPr>
        <p:spPr>
          <a:xfrm>
            <a:off x="0" y="0"/>
            <a:ext cx="12192000" cy="990211"/>
          </a:xfrm>
          <a:prstGeom prst="rect">
            <a:avLst/>
          </a:prstGeom>
          <a:solidFill>
            <a:srgbClr val="FF6A0E"/>
          </a:solidFill>
          <a:ln w="9525" cap="flat" cmpd="sng">
            <a:solidFill>
              <a:srgbClr val="FFFFFF"/>
            </a:solidFill>
            <a:prstDash val="solid"/>
            <a:round/>
            <a:headEnd type="none" w="sm" len="sm"/>
            <a:tailEnd type="none" w="sm" len="sm"/>
          </a:ln>
        </p:spPr>
        <p:txBody>
          <a:bodyPr spcFirstLastPara="1" vert="horz" wrap="square" lIns="121900" tIns="121900" rIns="121900" bIns="121900" rtlCol="0" anchor="t" anchorCtr="0">
            <a:noAutofit/>
          </a:bodyPr>
          <a:lstStyle/>
          <a:p>
            <a:pPr marL="599985">
              <a:lnSpc>
                <a:spcPct val="150000"/>
              </a:lnSpc>
              <a:spcBef>
                <a:spcPts val="0"/>
              </a:spcBef>
              <a:spcAft>
                <a:spcPts val="2133"/>
              </a:spcAft>
            </a:pPr>
            <a:r>
              <a:rPr lang="en-IN" sz="4000" b="1" dirty="0">
                <a:solidFill>
                  <a:schemeClr val="bg1"/>
                </a:solidFill>
                <a:latin typeface="Roboto" panose="02000000000000000000" pitchFamily="2" charset="0"/>
                <a:ea typeface="Roboto" panose="02000000000000000000" pitchFamily="2" charset="0"/>
                <a:cs typeface="Roboto" panose="02000000000000000000" pitchFamily="2" charset="0"/>
              </a:rPr>
              <a:t>FAILURE TYPE BREAKDOWN</a:t>
            </a:r>
            <a:endParaRPr lang="en-GB" sz="4000" b="1" dirty="0">
              <a:solidFill>
                <a:schemeClr val="bg1"/>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52" name="Google Shape;352;p15">
            <a:extLst>
              <a:ext uri="{FF2B5EF4-FFF2-40B4-BE49-F238E27FC236}">
                <a16:creationId xmlns:a16="http://schemas.microsoft.com/office/drawing/2014/main" id="{968D8B4D-EB04-4DC4-4AF6-1B4EC33BEC83}"/>
              </a:ext>
            </a:extLst>
          </p:cNvPr>
          <p:cNvSpPr txBox="1"/>
          <p:nvPr/>
        </p:nvSpPr>
        <p:spPr>
          <a:xfrm>
            <a:off x="0" y="951201"/>
            <a:ext cx="12192000" cy="5331200"/>
          </a:xfrm>
          <a:prstGeom prst="rect">
            <a:avLst/>
          </a:prstGeom>
          <a:noFill/>
          <a:ln>
            <a:noFill/>
          </a:ln>
        </p:spPr>
        <p:txBody>
          <a:bodyPr spcFirstLastPara="1" wrap="square" lIns="365733" tIns="365733" rIns="365733" bIns="365733" anchor="t" anchorCtr="0">
            <a:noAutofit/>
          </a:bodyPr>
          <a:lstStyle/>
          <a:p>
            <a:pPr algn="ctr">
              <a:lnSpc>
                <a:spcPct val="150000"/>
              </a:lnSpc>
            </a:pPr>
            <a:r>
              <a:rPr lang="en-IN" b="1" dirty="0">
                <a:solidFill>
                  <a:schemeClr val="accent2"/>
                </a:solidFill>
                <a:latin typeface="Roboto" panose="02000000000000000000" pitchFamily="2" charset="0"/>
                <a:ea typeface="Roboto" panose="02000000000000000000" pitchFamily="2" charset="0"/>
                <a:cs typeface="Roboto" panose="02000000000000000000" pitchFamily="2" charset="0"/>
              </a:rPr>
              <a:t>Heat Dissipation is the Most Common Failure Mode</a:t>
            </a:r>
            <a:endParaRPr b="1" dirty="0">
              <a:solidFill>
                <a:schemeClr val="accent2"/>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53" name="Google Shape;353;p15">
            <a:extLst>
              <a:ext uri="{FF2B5EF4-FFF2-40B4-BE49-F238E27FC236}">
                <a16:creationId xmlns:a16="http://schemas.microsoft.com/office/drawing/2014/main" id="{8C2D2917-5B66-597D-F700-A3E49C7DF87A}"/>
              </a:ext>
            </a:extLst>
          </p:cNvPr>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r>
              <a:rPr lang="en-GB" sz="1200" dirty="0">
                <a:solidFill>
                  <a:srgbClr val="FFFFFF"/>
                </a:solidFill>
                <a:latin typeface="Roboto"/>
                <a:ea typeface="Roboto"/>
                <a:cs typeface="Roboto"/>
                <a:sym typeface="Roboto"/>
              </a:rPr>
              <a:t>© All rights reserved by </a:t>
            </a:r>
            <a:r>
              <a:rPr lang="en-GB" sz="1200" dirty="0" err="1">
                <a:solidFill>
                  <a:srgbClr val="FFFFFF"/>
                </a:solidFill>
                <a:latin typeface="Roboto"/>
                <a:ea typeface="Roboto"/>
                <a:cs typeface="Roboto"/>
                <a:sym typeface="Roboto"/>
              </a:rPr>
              <a:t>Fireblaze</a:t>
            </a:r>
            <a:r>
              <a:rPr lang="en-GB" sz="1200" dirty="0">
                <a:solidFill>
                  <a:srgbClr val="FFFFFF"/>
                </a:solidFill>
                <a:latin typeface="Roboto"/>
                <a:ea typeface="Roboto"/>
                <a:cs typeface="Roboto"/>
                <a:sym typeface="Roboto"/>
              </a:rPr>
              <a:t> Technologies </a:t>
            </a:r>
            <a:r>
              <a:rPr lang="en-GB" sz="1200" dirty="0" err="1">
                <a:solidFill>
                  <a:srgbClr val="FFFFFF"/>
                </a:solidFill>
                <a:latin typeface="Roboto"/>
                <a:ea typeface="Roboto"/>
                <a:cs typeface="Roboto"/>
                <a:sym typeface="Roboto"/>
              </a:rPr>
              <a:t>Pvt.</a:t>
            </a:r>
            <a:r>
              <a:rPr lang="en-GB" sz="1200" dirty="0">
                <a:solidFill>
                  <a:srgbClr val="FFFFFF"/>
                </a:solidFill>
                <a:latin typeface="Roboto"/>
                <a:ea typeface="Roboto"/>
                <a:cs typeface="Roboto"/>
                <a:sym typeface="Roboto"/>
              </a:rPr>
              <a:t> Ltd.</a:t>
            </a:r>
            <a:endParaRPr sz="1200" dirty="0">
              <a:solidFill>
                <a:srgbClr val="FFFFFF"/>
              </a:solidFill>
              <a:latin typeface="Roboto"/>
              <a:ea typeface="Roboto"/>
              <a:cs typeface="Roboto"/>
              <a:sym typeface="Roboto"/>
            </a:endParaRPr>
          </a:p>
        </p:txBody>
      </p:sp>
      <p:sp>
        <p:nvSpPr>
          <p:cNvPr id="354" name="Google Shape;354;p15">
            <a:extLst>
              <a:ext uri="{FF2B5EF4-FFF2-40B4-BE49-F238E27FC236}">
                <a16:creationId xmlns:a16="http://schemas.microsoft.com/office/drawing/2014/main" id="{02F4FA2A-70CF-28F8-8DA2-1BC4F9FE5719}"/>
              </a:ext>
            </a:extLst>
          </p:cNvPr>
          <p:cNvSpPr/>
          <p:nvPr/>
        </p:nvSpPr>
        <p:spPr>
          <a:xfrm rot="10800000">
            <a:off x="11516800" y="130333"/>
            <a:ext cx="675200" cy="7552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355" name="Google Shape;355;p15">
            <a:extLst>
              <a:ext uri="{FF2B5EF4-FFF2-40B4-BE49-F238E27FC236}">
                <a16:creationId xmlns:a16="http://schemas.microsoft.com/office/drawing/2014/main" id="{7C6084A7-AA18-28FC-F88D-0FA7C3A1CA8B}"/>
              </a:ext>
            </a:extLst>
          </p:cNvPr>
          <p:cNvSpPr/>
          <p:nvPr/>
        </p:nvSpPr>
        <p:spPr>
          <a:xfrm>
            <a:off x="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pic>
        <p:nvPicPr>
          <p:cNvPr id="4" name="Picture 3">
            <a:extLst>
              <a:ext uri="{FF2B5EF4-FFF2-40B4-BE49-F238E27FC236}">
                <a16:creationId xmlns:a16="http://schemas.microsoft.com/office/drawing/2014/main" id="{3EF53447-E38F-95D5-0495-76C8157346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29812" y="2034070"/>
            <a:ext cx="6503437" cy="368559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TextBox 4">
            <a:extLst>
              <a:ext uri="{FF2B5EF4-FFF2-40B4-BE49-F238E27FC236}">
                <a16:creationId xmlns:a16="http://schemas.microsoft.com/office/drawing/2014/main" id="{DA6D2047-301E-32AD-68D6-B9E7DB5E5362}"/>
              </a:ext>
            </a:extLst>
          </p:cNvPr>
          <p:cNvSpPr txBox="1"/>
          <p:nvPr/>
        </p:nvSpPr>
        <p:spPr>
          <a:xfrm>
            <a:off x="1826327" y="5838064"/>
            <a:ext cx="9690473" cy="461665"/>
          </a:xfrm>
          <a:prstGeom prst="rect">
            <a:avLst/>
          </a:prstGeom>
          <a:noFill/>
        </p:spPr>
        <p:txBody>
          <a:bodyPr wrap="none" rtlCol="0">
            <a:spAutoFit/>
          </a:bodyPr>
          <a:lstStyle/>
          <a:p>
            <a:pPr marL="285750" indent="-285750">
              <a:buFont typeface="Arial" panose="020B0604020202020204" pitchFamily="34" charset="0"/>
              <a:buChar char="•"/>
            </a:pPr>
            <a:r>
              <a:rPr lang="en-IN" sz="1200" dirty="0">
                <a:latin typeface="Roboto" panose="02000000000000000000" pitchFamily="2" charset="0"/>
                <a:ea typeface="Roboto" panose="02000000000000000000" pitchFamily="2" charset="0"/>
                <a:cs typeface="Roboto" panose="02000000000000000000" pitchFamily="2" charset="0"/>
              </a:rPr>
              <a:t>Heat Dissipation (HDF) is the most common failure mode (~115 cases), followed by Overstrain (OSF) and Power Failure (PWF) </a:t>
            </a:r>
          </a:p>
          <a:p>
            <a:pPr marL="285750" indent="-285750">
              <a:buFont typeface="Arial" panose="020B0604020202020204" pitchFamily="34" charset="0"/>
              <a:buChar char="•"/>
            </a:pPr>
            <a:r>
              <a:rPr lang="en-IN" sz="1200" dirty="0">
                <a:latin typeface="Roboto" panose="02000000000000000000" pitchFamily="2" charset="0"/>
                <a:ea typeface="Roboto" panose="02000000000000000000" pitchFamily="2" charset="0"/>
                <a:cs typeface="Roboto" panose="02000000000000000000" pitchFamily="2" charset="0"/>
              </a:rPr>
              <a:t>Random Failure (RNF) is the rarest (~19 cases) by design — it has no detectable sensor pattern, representing real-world unpredictability</a:t>
            </a:r>
          </a:p>
        </p:txBody>
      </p:sp>
    </p:spTree>
    <p:extLst>
      <p:ext uri="{BB962C8B-B14F-4D97-AF65-F5344CB8AC3E}">
        <p14:creationId xmlns:p14="http://schemas.microsoft.com/office/powerpoint/2010/main" val="10717134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9">
          <a:extLst>
            <a:ext uri="{FF2B5EF4-FFF2-40B4-BE49-F238E27FC236}">
              <a16:creationId xmlns:a16="http://schemas.microsoft.com/office/drawing/2014/main" id="{312F3B6F-9A92-26D9-EC0D-184DE5E8AC96}"/>
            </a:ext>
          </a:extLst>
        </p:cNvPr>
        <p:cNvGrpSpPr/>
        <p:nvPr/>
      </p:nvGrpSpPr>
      <p:grpSpPr>
        <a:xfrm>
          <a:off x="0" y="0"/>
          <a:ext cx="0" cy="0"/>
          <a:chOff x="0" y="0"/>
          <a:chExt cx="0" cy="0"/>
        </a:xfrm>
      </p:grpSpPr>
      <p:sp>
        <p:nvSpPr>
          <p:cNvPr id="351" name="Google Shape;351;p15">
            <a:extLst>
              <a:ext uri="{FF2B5EF4-FFF2-40B4-BE49-F238E27FC236}">
                <a16:creationId xmlns:a16="http://schemas.microsoft.com/office/drawing/2014/main" id="{DBBA9D2A-03F7-3791-EB22-2A118A9E6892}"/>
              </a:ext>
            </a:extLst>
          </p:cNvPr>
          <p:cNvSpPr txBox="1">
            <a:spLocks noGrp="1"/>
          </p:cNvSpPr>
          <p:nvPr>
            <p:ph type="ctrTitle"/>
          </p:nvPr>
        </p:nvSpPr>
        <p:spPr>
          <a:xfrm>
            <a:off x="0" y="0"/>
            <a:ext cx="12192000" cy="990211"/>
          </a:xfrm>
          <a:prstGeom prst="rect">
            <a:avLst/>
          </a:prstGeom>
          <a:solidFill>
            <a:srgbClr val="FF6A0E"/>
          </a:solidFill>
          <a:ln w="9525" cap="flat" cmpd="sng">
            <a:solidFill>
              <a:srgbClr val="FFFFFF"/>
            </a:solidFill>
            <a:prstDash val="solid"/>
            <a:round/>
            <a:headEnd type="none" w="sm" len="sm"/>
            <a:tailEnd type="none" w="sm" len="sm"/>
          </a:ln>
        </p:spPr>
        <p:txBody>
          <a:bodyPr spcFirstLastPara="1" vert="horz" wrap="square" lIns="121900" tIns="121900" rIns="121900" bIns="121900" rtlCol="0" anchor="t" anchorCtr="0">
            <a:noAutofit/>
          </a:bodyPr>
          <a:lstStyle/>
          <a:p>
            <a:pPr marL="599985">
              <a:lnSpc>
                <a:spcPct val="150000"/>
              </a:lnSpc>
              <a:spcBef>
                <a:spcPts val="0"/>
              </a:spcBef>
              <a:spcAft>
                <a:spcPts val="2133"/>
              </a:spcAft>
            </a:pPr>
            <a:r>
              <a:rPr lang="en-IN" sz="4000" b="1" dirty="0">
                <a:solidFill>
                  <a:schemeClr val="bg1"/>
                </a:solidFill>
                <a:latin typeface="Roboto" panose="02000000000000000000" pitchFamily="2" charset="0"/>
                <a:ea typeface="Roboto" panose="02000000000000000000" pitchFamily="2" charset="0"/>
                <a:cs typeface="Roboto" panose="02000000000000000000" pitchFamily="2" charset="0"/>
              </a:rPr>
              <a:t>MODEL COMPARISON</a:t>
            </a:r>
            <a:endParaRPr lang="en-GB" sz="4000" b="1" dirty="0">
              <a:solidFill>
                <a:schemeClr val="bg1"/>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52" name="Google Shape;352;p15">
            <a:extLst>
              <a:ext uri="{FF2B5EF4-FFF2-40B4-BE49-F238E27FC236}">
                <a16:creationId xmlns:a16="http://schemas.microsoft.com/office/drawing/2014/main" id="{1307BDEE-A26F-952D-E657-D2536BCBF5EB}"/>
              </a:ext>
            </a:extLst>
          </p:cNvPr>
          <p:cNvSpPr txBox="1"/>
          <p:nvPr/>
        </p:nvSpPr>
        <p:spPr>
          <a:xfrm>
            <a:off x="102637" y="885534"/>
            <a:ext cx="12192000" cy="5331200"/>
          </a:xfrm>
          <a:prstGeom prst="rect">
            <a:avLst/>
          </a:prstGeom>
          <a:noFill/>
          <a:ln>
            <a:noFill/>
          </a:ln>
        </p:spPr>
        <p:txBody>
          <a:bodyPr spcFirstLastPara="1" wrap="square" lIns="365733" tIns="365733" rIns="365733" bIns="365733" anchor="t" anchorCtr="0">
            <a:noAutofit/>
          </a:bodyPr>
          <a:lstStyle/>
          <a:p>
            <a:pPr algn="ctr">
              <a:lnSpc>
                <a:spcPct val="150000"/>
              </a:lnSpc>
            </a:pPr>
            <a:r>
              <a:rPr lang="en-IN" b="1" dirty="0">
                <a:solidFill>
                  <a:schemeClr val="accent2"/>
                </a:solidFill>
                <a:latin typeface="Roboto" panose="02000000000000000000" pitchFamily="2" charset="0"/>
                <a:ea typeface="Roboto" panose="02000000000000000000" pitchFamily="2" charset="0"/>
                <a:cs typeface="Roboto" panose="02000000000000000000" pitchFamily="2" charset="0"/>
              </a:rPr>
              <a:t>Random Forest Delivers the Best Overall Balance</a:t>
            </a:r>
            <a:endParaRPr b="1" dirty="0">
              <a:solidFill>
                <a:schemeClr val="accent2"/>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53" name="Google Shape;353;p15">
            <a:extLst>
              <a:ext uri="{FF2B5EF4-FFF2-40B4-BE49-F238E27FC236}">
                <a16:creationId xmlns:a16="http://schemas.microsoft.com/office/drawing/2014/main" id="{A40A29F6-86A8-3CB6-916A-F7977C525919}"/>
              </a:ext>
            </a:extLst>
          </p:cNvPr>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r>
              <a:rPr lang="en-GB" sz="1200" dirty="0">
                <a:solidFill>
                  <a:srgbClr val="FFFFFF"/>
                </a:solidFill>
                <a:latin typeface="Roboto"/>
                <a:ea typeface="Roboto"/>
                <a:cs typeface="Roboto"/>
                <a:sym typeface="Roboto"/>
              </a:rPr>
              <a:t>© All rights reserved by </a:t>
            </a:r>
            <a:r>
              <a:rPr lang="en-GB" sz="1200" dirty="0" err="1">
                <a:solidFill>
                  <a:srgbClr val="FFFFFF"/>
                </a:solidFill>
                <a:latin typeface="Roboto"/>
                <a:ea typeface="Roboto"/>
                <a:cs typeface="Roboto"/>
                <a:sym typeface="Roboto"/>
              </a:rPr>
              <a:t>Fireblaze</a:t>
            </a:r>
            <a:r>
              <a:rPr lang="en-GB" sz="1200" dirty="0">
                <a:solidFill>
                  <a:srgbClr val="FFFFFF"/>
                </a:solidFill>
                <a:latin typeface="Roboto"/>
                <a:ea typeface="Roboto"/>
                <a:cs typeface="Roboto"/>
                <a:sym typeface="Roboto"/>
              </a:rPr>
              <a:t> Technologies </a:t>
            </a:r>
            <a:r>
              <a:rPr lang="en-GB" sz="1200" dirty="0" err="1">
                <a:solidFill>
                  <a:srgbClr val="FFFFFF"/>
                </a:solidFill>
                <a:latin typeface="Roboto"/>
                <a:ea typeface="Roboto"/>
                <a:cs typeface="Roboto"/>
                <a:sym typeface="Roboto"/>
              </a:rPr>
              <a:t>Pvt.</a:t>
            </a:r>
            <a:r>
              <a:rPr lang="en-GB" sz="1200" dirty="0">
                <a:solidFill>
                  <a:srgbClr val="FFFFFF"/>
                </a:solidFill>
                <a:latin typeface="Roboto"/>
                <a:ea typeface="Roboto"/>
                <a:cs typeface="Roboto"/>
                <a:sym typeface="Roboto"/>
              </a:rPr>
              <a:t> Ltd.</a:t>
            </a:r>
            <a:endParaRPr sz="1200" dirty="0">
              <a:solidFill>
                <a:srgbClr val="FFFFFF"/>
              </a:solidFill>
              <a:latin typeface="Roboto"/>
              <a:ea typeface="Roboto"/>
              <a:cs typeface="Roboto"/>
              <a:sym typeface="Roboto"/>
            </a:endParaRPr>
          </a:p>
        </p:txBody>
      </p:sp>
      <p:sp>
        <p:nvSpPr>
          <p:cNvPr id="354" name="Google Shape;354;p15">
            <a:extLst>
              <a:ext uri="{FF2B5EF4-FFF2-40B4-BE49-F238E27FC236}">
                <a16:creationId xmlns:a16="http://schemas.microsoft.com/office/drawing/2014/main" id="{C57EC967-3E3D-9096-18E0-0405AE99CC9E}"/>
              </a:ext>
            </a:extLst>
          </p:cNvPr>
          <p:cNvSpPr/>
          <p:nvPr/>
        </p:nvSpPr>
        <p:spPr>
          <a:xfrm rot="10800000">
            <a:off x="11516800" y="130333"/>
            <a:ext cx="675200" cy="7552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355" name="Google Shape;355;p15">
            <a:extLst>
              <a:ext uri="{FF2B5EF4-FFF2-40B4-BE49-F238E27FC236}">
                <a16:creationId xmlns:a16="http://schemas.microsoft.com/office/drawing/2014/main" id="{238DE82C-2497-B919-0F5B-CE02690B74EC}"/>
              </a:ext>
            </a:extLst>
          </p:cNvPr>
          <p:cNvSpPr/>
          <p:nvPr/>
        </p:nvSpPr>
        <p:spPr>
          <a:xfrm>
            <a:off x="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pic>
        <p:nvPicPr>
          <p:cNvPr id="6" name="Picture 5">
            <a:extLst>
              <a:ext uri="{FF2B5EF4-FFF2-40B4-BE49-F238E27FC236}">
                <a16:creationId xmlns:a16="http://schemas.microsoft.com/office/drawing/2014/main" id="{EFA3688B-DFA4-31ED-C682-6FB43BA6A8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1943" y="1912775"/>
            <a:ext cx="7016620" cy="373224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TextBox 6">
            <a:extLst>
              <a:ext uri="{FF2B5EF4-FFF2-40B4-BE49-F238E27FC236}">
                <a16:creationId xmlns:a16="http://schemas.microsoft.com/office/drawing/2014/main" id="{0ECD50B1-B906-6EDD-9569-AD889E2E6636}"/>
              </a:ext>
            </a:extLst>
          </p:cNvPr>
          <p:cNvSpPr txBox="1"/>
          <p:nvPr/>
        </p:nvSpPr>
        <p:spPr>
          <a:xfrm>
            <a:off x="1730440" y="5818846"/>
            <a:ext cx="9906879" cy="461665"/>
          </a:xfrm>
          <a:prstGeom prst="rect">
            <a:avLst/>
          </a:prstGeom>
          <a:noFill/>
        </p:spPr>
        <p:txBody>
          <a:bodyPr wrap="none" rtlCol="0">
            <a:spAutoFit/>
          </a:bodyPr>
          <a:lstStyle/>
          <a:p>
            <a:pPr marL="171450" indent="-171450">
              <a:buFont typeface="Arial" panose="020B0604020202020204" pitchFamily="34" charset="0"/>
              <a:buChar char="•"/>
            </a:pPr>
            <a:r>
              <a:rPr lang="en-IN" sz="1200" dirty="0">
                <a:latin typeface="Roboto" panose="02000000000000000000" pitchFamily="2" charset="0"/>
                <a:ea typeface="Roboto" panose="02000000000000000000" pitchFamily="2" charset="0"/>
                <a:cs typeface="Roboto" panose="02000000000000000000" pitchFamily="2" charset="0"/>
              </a:rPr>
              <a:t>Random Forest achieves the highest Precision, F1 Score, and ROC-AUC, while matching the other models on Recall </a:t>
            </a:r>
          </a:p>
          <a:p>
            <a:pPr marL="171450" indent="-171450">
              <a:buFont typeface="Arial" panose="020B0604020202020204" pitchFamily="34" charset="0"/>
              <a:buChar char="•"/>
            </a:pPr>
            <a:r>
              <a:rPr lang="en-IN" sz="1200" dirty="0">
                <a:latin typeface="Roboto" panose="02000000000000000000" pitchFamily="2" charset="0"/>
                <a:ea typeface="Roboto" panose="02000000000000000000" pitchFamily="2" charset="0"/>
                <a:cs typeface="Roboto" panose="02000000000000000000" pitchFamily="2" charset="0"/>
              </a:rPr>
              <a:t>Logistic Regression's high Recall is misleading on its own — its much lower Precision means more false alarms for the same failures caught</a:t>
            </a:r>
          </a:p>
        </p:txBody>
      </p:sp>
    </p:spTree>
    <p:extLst>
      <p:ext uri="{BB962C8B-B14F-4D97-AF65-F5344CB8AC3E}">
        <p14:creationId xmlns:p14="http://schemas.microsoft.com/office/powerpoint/2010/main" val="980303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49">
          <a:extLst>
            <a:ext uri="{FF2B5EF4-FFF2-40B4-BE49-F238E27FC236}">
              <a16:creationId xmlns:a16="http://schemas.microsoft.com/office/drawing/2014/main" id="{7E8FA68A-9951-830C-0A61-BC1C563C1AF5}"/>
            </a:ext>
          </a:extLst>
        </p:cNvPr>
        <p:cNvGrpSpPr/>
        <p:nvPr/>
      </p:nvGrpSpPr>
      <p:grpSpPr>
        <a:xfrm>
          <a:off x="0" y="0"/>
          <a:ext cx="0" cy="0"/>
          <a:chOff x="0" y="0"/>
          <a:chExt cx="0" cy="0"/>
        </a:xfrm>
      </p:grpSpPr>
      <p:sp>
        <p:nvSpPr>
          <p:cNvPr id="351" name="Google Shape;351;p15">
            <a:extLst>
              <a:ext uri="{FF2B5EF4-FFF2-40B4-BE49-F238E27FC236}">
                <a16:creationId xmlns:a16="http://schemas.microsoft.com/office/drawing/2014/main" id="{613616E6-4518-74B7-3B16-D48DC9B68149}"/>
              </a:ext>
            </a:extLst>
          </p:cNvPr>
          <p:cNvSpPr txBox="1">
            <a:spLocks noGrp="1"/>
          </p:cNvSpPr>
          <p:nvPr>
            <p:ph type="ctrTitle"/>
          </p:nvPr>
        </p:nvSpPr>
        <p:spPr>
          <a:xfrm>
            <a:off x="0" y="0"/>
            <a:ext cx="12192000" cy="990211"/>
          </a:xfrm>
          <a:prstGeom prst="rect">
            <a:avLst/>
          </a:prstGeom>
          <a:solidFill>
            <a:srgbClr val="FF6A0E"/>
          </a:solidFill>
          <a:ln w="9525" cap="flat" cmpd="sng">
            <a:solidFill>
              <a:srgbClr val="FFFFFF"/>
            </a:solidFill>
            <a:prstDash val="solid"/>
            <a:round/>
            <a:headEnd type="none" w="sm" len="sm"/>
            <a:tailEnd type="none" w="sm" len="sm"/>
          </a:ln>
        </p:spPr>
        <p:txBody>
          <a:bodyPr spcFirstLastPara="1" vert="horz" wrap="square" lIns="121900" tIns="121900" rIns="121900" bIns="121900" rtlCol="0" anchor="t" anchorCtr="0">
            <a:noAutofit/>
          </a:bodyPr>
          <a:lstStyle/>
          <a:p>
            <a:pPr marL="599985">
              <a:lnSpc>
                <a:spcPct val="150000"/>
              </a:lnSpc>
              <a:spcBef>
                <a:spcPts val="0"/>
              </a:spcBef>
              <a:spcAft>
                <a:spcPts val="2133"/>
              </a:spcAft>
            </a:pPr>
            <a:r>
              <a:rPr lang="en-IN" sz="4000" b="1" dirty="0">
                <a:solidFill>
                  <a:schemeClr val="bg1"/>
                </a:solidFill>
                <a:latin typeface="Roboto" panose="02000000000000000000" pitchFamily="2" charset="0"/>
                <a:ea typeface="Roboto" panose="02000000000000000000" pitchFamily="2" charset="0"/>
                <a:cs typeface="Roboto" panose="02000000000000000000" pitchFamily="2" charset="0"/>
              </a:rPr>
              <a:t>CONFUSION MATRIX</a:t>
            </a:r>
            <a:endParaRPr lang="en-GB" sz="4000" b="1" dirty="0">
              <a:solidFill>
                <a:schemeClr val="bg1"/>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52" name="Google Shape;352;p15">
            <a:extLst>
              <a:ext uri="{FF2B5EF4-FFF2-40B4-BE49-F238E27FC236}">
                <a16:creationId xmlns:a16="http://schemas.microsoft.com/office/drawing/2014/main" id="{717F9F82-B1CE-C33F-1B87-06C72AEAEA78}"/>
              </a:ext>
            </a:extLst>
          </p:cNvPr>
          <p:cNvSpPr txBox="1"/>
          <p:nvPr/>
        </p:nvSpPr>
        <p:spPr>
          <a:xfrm>
            <a:off x="0" y="885534"/>
            <a:ext cx="12192000" cy="5331200"/>
          </a:xfrm>
          <a:prstGeom prst="rect">
            <a:avLst/>
          </a:prstGeom>
          <a:noFill/>
          <a:ln>
            <a:noFill/>
          </a:ln>
        </p:spPr>
        <p:txBody>
          <a:bodyPr spcFirstLastPara="1" wrap="square" lIns="365733" tIns="365733" rIns="365733" bIns="365733" anchor="t" anchorCtr="0">
            <a:noAutofit/>
          </a:bodyPr>
          <a:lstStyle/>
          <a:p>
            <a:pPr algn="ctr">
              <a:lnSpc>
                <a:spcPct val="150000"/>
              </a:lnSpc>
            </a:pPr>
            <a:r>
              <a:rPr lang="en-IN" b="1" dirty="0">
                <a:solidFill>
                  <a:schemeClr val="accent2"/>
                </a:solidFill>
                <a:latin typeface="Roboto" panose="02000000000000000000" pitchFamily="2" charset="0"/>
                <a:ea typeface="Roboto" panose="02000000000000000000" pitchFamily="2" charset="0"/>
                <a:cs typeface="Roboto" panose="02000000000000000000" pitchFamily="2" charset="0"/>
              </a:rPr>
              <a:t>Confusion Matrix Comparison</a:t>
            </a:r>
            <a:endParaRPr b="1" dirty="0">
              <a:solidFill>
                <a:schemeClr val="accent2"/>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53" name="Google Shape;353;p15">
            <a:extLst>
              <a:ext uri="{FF2B5EF4-FFF2-40B4-BE49-F238E27FC236}">
                <a16:creationId xmlns:a16="http://schemas.microsoft.com/office/drawing/2014/main" id="{A29331DE-AEF9-F2EA-E517-BA96B1B681D4}"/>
              </a:ext>
            </a:extLst>
          </p:cNvPr>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r>
              <a:rPr lang="en-GB" sz="1200" dirty="0">
                <a:solidFill>
                  <a:srgbClr val="FFFFFF"/>
                </a:solidFill>
                <a:latin typeface="Roboto"/>
                <a:ea typeface="Roboto"/>
                <a:cs typeface="Roboto"/>
                <a:sym typeface="Roboto"/>
              </a:rPr>
              <a:t>© All rights reserved by </a:t>
            </a:r>
            <a:r>
              <a:rPr lang="en-GB" sz="1200" dirty="0" err="1">
                <a:solidFill>
                  <a:srgbClr val="FFFFFF"/>
                </a:solidFill>
                <a:latin typeface="Roboto"/>
                <a:ea typeface="Roboto"/>
                <a:cs typeface="Roboto"/>
                <a:sym typeface="Roboto"/>
              </a:rPr>
              <a:t>Fireblaze</a:t>
            </a:r>
            <a:r>
              <a:rPr lang="en-GB" sz="1200" dirty="0">
                <a:solidFill>
                  <a:srgbClr val="FFFFFF"/>
                </a:solidFill>
                <a:latin typeface="Roboto"/>
                <a:ea typeface="Roboto"/>
                <a:cs typeface="Roboto"/>
                <a:sym typeface="Roboto"/>
              </a:rPr>
              <a:t> Technologies </a:t>
            </a:r>
            <a:r>
              <a:rPr lang="en-GB" sz="1200" dirty="0" err="1">
                <a:solidFill>
                  <a:srgbClr val="FFFFFF"/>
                </a:solidFill>
                <a:latin typeface="Roboto"/>
                <a:ea typeface="Roboto"/>
                <a:cs typeface="Roboto"/>
                <a:sym typeface="Roboto"/>
              </a:rPr>
              <a:t>Pvt.</a:t>
            </a:r>
            <a:r>
              <a:rPr lang="en-GB" sz="1200" dirty="0">
                <a:solidFill>
                  <a:srgbClr val="FFFFFF"/>
                </a:solidFill>
                <a:latin typeface="Roboto"/>
                <a:ea typeface="Roboto"/>
                <a:cs typeface="Roboto"/>
                <a:sym typeface="Roboto"/>
              </a:rPr>
              <a:t> Ltd.</a:t>
            </a:r>
            <a:endParaRPr sz="1200" dirty="0">
              <a:solidFill>
                <a:srgbClr val="FFFFFF"/>
              </a:solidFill>
              <a:latin typeface="Roboto"/>
              <a:ea typeface="Roboto"/>
              <a:cs typeface="Roboto"/>
              <a:sym typeface="Roboto"/>
            </a:endParaRPr>
          </a:p>
        </p:txBody>
      </p:sp>
      <p:sp>
        <p:nvSpPr>
          <p:cNvPr id="354" name="Google Shape;354;p15">
            <a:extLst>
              <a:ext uri="{FF2B5EF4-FFF2-40B4-BE49-F238E27FC236}">
                <a16:creationId xmlns:a16="http://schemas.microsoft.com/office/drawing/2014/main" id="{20C9055A-248C-7677-AB1D-9F92E69A839A}"/>
              </a:ext>
            </a:extLst>
          </p:cNvPr>
          <p:cNvSpPr/>
          <p:nvPr/>
        </p:nvSpPr>
        <p:spPr>
          <a:xfrm rot="10800000">
            <a:off x="11516800" y="130333"/>
            <a:ext cx="675200" cy="7552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355" name="Google Shape;355;p15">
            <a:extLst>
              <a:ext uri="{FF2B5EF4-FFF2-40B4-BE49-F238E27FC236}">
                <a16:creationId xmlns:a16="http://schemas.microsoft.com/office/drawing/2014/main" id="{A344CA85-CE79-A133-7299-EE7936891BFA}"/>
              </a:ext>
            </a:extLst>
          </p:cNvPr>
          <p:cNvSpPr/>
          <p:nvPr/>
        </p:nvSpPr>
        <p:spPr>
          <a:xfrm>
            <a:off x="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4" name="TextBox 3">
            <a:extLst>
              <a:ext uri="{FF2B5EF4-FFF2-40B4-BE49-F238E27FC236}">
                <a16:creationId xmlns:a16="http://schemas.microsoft.com/office/drawing/2014/main" id="{08D7E234-9C38-48C9-C852-CDCABB978010}"/>
              </a:ext>
            </a:extLst>
          </p:cNvPr>
          <p:cNvSpPr txBox="1"/>
          <p:nvPr/>
        </p:nvSpPr>
        <p:spPr>
          <a:xfrm>
            <a:off x="2454704" y="5788400"/>
            <a:ext cx="9062096" cy="461665"/>
          </a:xfrm>
          <a:prstGeom prst="rect">
            <a:avLst/>
          </a:prstGeom>
          <a:noFill/>
        </p:spPr>
        <p:txBody>
          <a:bodyPr wrap="none" rtlCol="0">
            <a:spAutoFit/>
          </a:bodyPr>
          <a:lstStyle/>
          <a:p>
            <a:pPr marL="171450" indent="-171450">
              <a:buFont typeface="Arial" panose="020B0604020202020204" pitchFamily="34" charset="0"/>
              <a:buChar char="•"/>
            </a:pPr>
            <a:r>
              <a:rPr lang="en-IN" sz="1200" dirty="0">
                <a:latin typeface="Roboto" panose="02000000000000000000" pitchFamily="2" charset="0"/>
                <a:ea typeface="Roboto" panose="02000000000000000000" pitchFamily="2" charset="0"/>
                <a:cs typeface="Roboto" panose="02000000000000000000" pitchFamily="2" charset="0"/>
              </a:rPr>
              <a:t>Random Forest correctly caught 56 of 68 actual failures, missing only 12 — a Recall of ~82% </a:t>
            </a:r>
          </a:p>
          <a:p>
            <a:pPr marL="171450" indent="-171450">
              <a:buFont typeface="Arial" panose="020B0604020202020204" pitchFamily="34" charset="0"/>
              <a:buChar char="•"/>
            </a:pPr>
            <a:r>
              <a:rPr lang="en-IN" sz="1200" dirty="0">
                <a:latin typeface="Roboto" panose="02000000000000000000" pitchFamily="2" charset="0"/>
                <a:ea typeface="Roboto" panose="02000000000000000000" pitchFamily="2" charset="0"/>
                <a:cs typeface="Roboto" panose="02000000000000000000" pitchFamily="2" charset="0"/>
              </a:rPr>
              <a:t>It accepted 85 false alarms in exchange, a reasonable </a:t>
            </a:r>
            <a:r>
              <a:rPr lang="en-IN" sz="1200" dirty="0" err="1">
                <a:latin typeface="Roboto" panose="02000000000000000000" pitchFamily="2" charset="0"/>
                <a:ea typeface="Roboto" panose="02000000000000000000" pitchFamily="2" charset="0"/>
                <a:cs typeface="Roboto" panose="02000000000000000000" pitchFamily="2" charset="0"/>
              </a:rPr>
              <a:t>tradeoff</a:t>
            </a:r>
            <a:r>
              <a:rPr lang="en-IN" sz="1200" dirty="0">
                <a:latin typeface="Roboto" panose="02000000000000000000" pitchFamily="2" charset="0"/>
                <a:ea typeface="Roboto" panose="02000000000000000000" pitchFamily="2" charset="0"/>
                <a:cs typeface="Roboto" panose="02000000000000000000" pitchFamily="2" charset="0"/>
              </a:rPr>
              <a:t> since missed failures are costlier than unnecessary inspections</a:t>
            </a:r>
          </a:p>
        </p:txBody>
      </p:sp>
      <p:pic>
        <p:nvPicPr>
          <p:cNvPr id="5" name="Picture 4">
            <a:extLst>
              <a:ext uri="{FF2B5EF4-FFF2-40B4-BE49-F238E27FC236}">
                <a16:creationId xmlns:a16="http://schemas.microsoft.com/office/drawing/2014/main" id="{B6F40B14-F1CD-1983-F3BA-1C6BBB8B87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3343" y="2097336"/>
            <a:ext cx="3653584" cy="32304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 name="Picture 2">
            <a:extLst>
              <a:ext uri="{FF2B5EF4-FFF2-40B4-BE49-F238E27FC236}">
                <a16:creationId xmlns:a16="http://schemas.microsoft.com/office/drawing/2014/main" id="{D31AD24A-4149-CD13-DC0D-992EB7DFC4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7600" y="2097335"/>
            <a:ext cx="3721059" cy="32304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6">
            <a:extLst>
              <a:ext uri="{FF2B5EF4-FFF2-40B4-BE49-F238E27FC236}">
                <a16:creationId xmlns:a16="http://schemas.microsoft.com/office/drawing/2014/main" id="{7D489E2C-8E03-1D18-C6A2-C62F79F5AE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14744" y="2097336"/>
            <a:ext cx="3362514" cy="32304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637995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49">
          <a:extLst>
            <a:ext uri="{FF2B5EF4-FFF2-40B4-BE49-F238E27FC236}">
              <a16:creationId xmlns:a16="http://schemas.microsoft.com/office/drawing/2014/main" id="{7C918EF3-885D-2D8C-FD12-73DFE3A14E07}"/>
            </a:ext>
          </a:extLst>
        </p:cNvPr>
        <p:cNvGrpSpPr/>
        <p:nvPr/>
      </p:nvGrpSpPr>
      <p:grpSpPr>
        <a:xfrm>
          <a:off x="0" y="0"/>
          <a:ext cx="0" cy="0"/>
          <a:chOff x="0" y="0"/>
          <a:chExt cx="0" cy="0"/>
        </a:xfrm>
      </p:grpSpPr>
      <p:sp>
        <p:nvSpPr>
          <p:cNvPr id="351" name="Google Shape;351;p15">
            <a:extLst>
              <a:ext uri="{FF2B5EF4-FFF2-40B4-BE49-F238E27FC236}">
                <a16:creationId xmlns:a16="http://schemas.microsoft.com/office/drawing/2014/main" id="{90648E8B-FF2B-D9AA-C544-54EB6F9C0FBD}"/>
              </a:ext>
            </a:extLst>
          </p:cNvPr>
          <p:cNvSpPr txBox="1">
            <a:spLocks noGrp="1"/>
          </p:cNvSpPr>
          <p:nvPr>
            <p:ph type="ctrTitle"/>
          </p:nvPr>
        </p:nvSpPr>
        <p:spPr>
          <a:xfrm>
            <a:off x="0" y="0"/>
            <a:ext cx="12192000" cy="990211"/>
          </a:xfrm>
          <a:prstGeom prst="rect">
            <a:avLst/>
          </a:prstGeom>
          <a:solidFill>
            <a:srgbClr val="FF6A0E"/>
          </a:solidFill>
          <a:ln w="9525" cap="flat" cmpd="sng">
            <a:solidFill>
              <a:srgbClr val="FFFFFF"/>
            </a:solidFill>
            <a:prstDash val="solid"/>
            <a:round/>
            <a:headEnd type="none" w="sm" len="sm"/>
            <a:tailEnd type="none" w="sm" len="sm"/>
          </a:ln>
        </p:spPr>
        <p:txBody>
          <a:bodyPr spcFirstLastPara="1" vert="horz" wrap="square" lIns="121900" tIns="121900" rIns="121900" bIns="121900" rtlCol="0" anchor="t" anchorCtr="0">
            <a:noAutofit/>
          </a:bodyPr>
          <a:lstStyle/>
          <a:p>
            <a:pPr marL="599985">
              <a:lnSpc>
                <a:spcPct val="150000"/>
              </a:lnSpc>
              <a:spcBef>
                <a:spcPts val="0"/>
              </a:spcBef>
              <a:spcAft>
                <a:spcPts val="2133"/>
              </a:spcAft>
            </a:pPr>
            <a:r>
              <a:rPr lang="en-GB" sz="4000" b="1" dirty="0">
                <a:solidFill>
                  <a:srgbClr val="FFFFFF"/>
                </a:solidFill>
                <a:latin typeface="Roboto"/>
                <a:ea typeface="Roboto"/>
                <a:cs typeface="Roboto"/>
                <a:sym typeface="Roboto"/>
              </a:rPr>
              <a:t>PROPOSED SOLUTION</a:t>
            </a:r>
          </a:p>
        </p:txBody>
      </p:sp>
      <p:sp>
        <p:nvSpPr>
          <p:cNvPr id="352" name="Google Shape;352;p15">
            <a:extLst>
              <a:ext uri="{FF2B5EF4-FFF2-40B4-BE49-F238E27FC236}">
                <a16:creationId xmlns:a16="http://schemas.microsoft.com/office/drawing/2014/main" id="{3D06DF0C-2A7C-F549-ABC8-2874D80724ED}"/>
              </a:ext>
            </a:extLst>
          </p:cNvPr>
          <p:cNvSpPr txBox="1"/>
          <p:nvPr/>
        </p:nvSpPr>
        <p:spPr>
          <a:xfrm>
            <a:off x="0" y="1069600"/>
            <a:ext cx="12192000" cy="5331200"/>
          </a:xfrm>
          <a:prstGeom prst="rect">
            <a:avLst/>
          </a:prstGeom>
          <a:noFill/>
          <a:ln>
            <a:noFill/>
          </a:ln>
        </p:spPr>
        <p:txBody>
          <a:bodyPr spcFirstLastPara="1" wrap="square" lIns="365733" tIns="365733" rIns="365733" bIns="365733" anchor="t" anchorCtr="0">
            <a:noAutofit/>
          </a:bodyPr>
          <a:lstStyle/>
          <a:p>
            <a:pPr marL="285750" indent="-285750">
              <a:lnSpc>
                <a:spcPct val="150000"/>
              </a:lnSpc>
              <a:buFont typeface="Arial" panose="020B0604020202020204" pitchFamily="34" charset="0"/>
              <a:buChar char="•"/>
            </a:pPr>
            <a:r>
              <a:rPr lang="en-IN" sz="1600" dirty="0">
                <a:latin typeface="Roboto" panose="02000000000000000000" pitchFamily="2" charset="0"/>
                <a:ea typeface="Roboto" panose="02000000000000000000" pitchFamily="2" charset="0"/>
                <a:cs typeface="Roboto" panose="02000000000000000000" pitchFamily="2" charset="0"/>
              </a:rPr>
              <a:t>A </a:t>
            </a: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two-stage supervised ML pipeline</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a:t>
            </a:r>
            <a:r>
              <a:rPr lang="en-IN" sz="1600" dirty="0">
                <a:latin typeface="Roboto" panose="02000000000000000000" pitchFamily="2" charset="0"/>
                <a:ea typeface="Roboto" panose="02000000000000000000" pitchFamily="2" charset="0"/>
                <a:cs typeface="Roboto" panose="02000000000000000000" pitchFamily="2" charset="0"/>
              </a:rPr>
              <a:t> mirroring how predictive maintenance would actually be deployed: </a:t>
            </a:r>
          </a:p>
          <a:p>
            <a:pPr>
              <a:lnSpc>
                <a:spcPct val="150000"/>
              </a:lnSpc>
            </a:pPr>
            <a:r>
              <a:rPr lang="en-IN" sz="1600" b="1" dirty="0">
                <a:latin typeface="Roboto" panose="02000000000000000000" pitchFamily="2" charset="0"/>
                <a:ea typeface="Roboto" panose="02000000000000000000" pitchFamily="2" charset="0"/>
                <a:cs typeface="Roboto" panose="02000000000000000000" pitchFamily="2" charset="0"/>
              </a:rPr>
              <a:t>      </a:t>
            </a: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Stage 1:  Failure Detection (Binary Classification):</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a:t>
            </a:r>
            <a:r>
              <a:rPr lang="en-IN" sz="1600" dirty="0">
                <a:latin typeface="Roboto" panose="02000000000000000000" pitchFamily="2" charset="0"/>
                <a:ea typeface="Roboto" panose="02000000000000000000" pitchFamily="2" charset="0"/>
                <a:cs typeface="Roboto" panose="02000000000000000000" pitchFamily="2" charset="0"/>
              </a:rPr>
              <a:t>Predicts whether a machine will fail, using Logistic Regression, Decision Tree, and           Random Forest, compared head-to-head.</a:t>
            </a:r>
          </a:p>
          <a:p>
            <a:pPr>
              <a:lnSpc>
                <a:spcPct val="150000"/>
              </a:lnSpc>
            </a:pPr>
            <a:r>
              <a:rPr lang="en-IN" sz="1600" b="1" dirty="0">
                <a:latin typeface="Roboto" panose="02000000000000000000" pitchFamily="2" charset="0"/>
                <a:ea typeface="Roboto" panose="02000000000000000000" pitchFamily="2" charset="0"/>
                <a:cs typeface="Roboto" panose="02000000000000000000" pitchFamily="2" charset="0"/>
              </a:rPr>
              <a:t>      </a:t>
            </a: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Stage 2: Failure Diagnosis (Multiclass Classification):</a:t>
            </a:r>
            <a:r>
              <a:rPr lang="en-IN" sz="1600" dirty="0">
                <a:latin typeface="Roboto" panose="02000000000000000000" pitchFamily="2" charset="0"/>
                <a:ea typeface="Roboto" panose="02000000000000000000" pitchFamily="2" charset="0"/>
                <a:cs typeface="Roboto" panose="02000000000000000000" pitchFamily="2" charset="0"/>
              </a:rPr>
              <a:t> For machines flagged as failing, a Random Forest model identifies the most likely failure type.</a:t>
            </a:r>
          </a:p>
          <a:p>
            <a:pPr marL="285750" indent="-285750">
              <a:lnSpc>
                <a:spcPct val="150000"/>
              </a:lnSpc>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Handling the imbalance:</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a:t>
            </a:r>
            <a:r>
              <a:rPr lang="en-IN" sz="1600" dirty="0">
                <a:latin typeface="Roboto" panose="02000000000000000000" pitchFamily="2" charset="0"/>
                <a:ea typeface="Roboto" panose="02000000000000000000" pitchFamily="2" charset="0"/>
                <a:cs typeface="Roboto" panose="02000000000000000000" pitchFamily="2" charset="0"/>
              </a:rPr>
              <a:t>SMOTE (Synthetic Minority Oversampling) applied only to training data, never to test data, to avoid data leakage.</a:t>
            </a:r>
          </a:p>
          <a:p>
            <a:pPr marL="285750" indent="-285750">
              <a:lnSpc>
                <a:spcPct val="150000"/>
              </a:lnSpc>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Evaluation metrics:</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a:t>
            </a:r>
            <a:r>
              <a:rPr lang="en-IN" sz="1600" dirty="0">
                <a:latin typeface="Roboto" panose="02000000000000000000" pitchFamily="2" charset="0"/>
                <a:ea typeface="Roboto" panose="02000000000000000000" pitchFamily="2" charset="0"/>
                <a:cs typeface="Roboto" panose="02000000000000000000" pitchFamily="2" charset="0"/>
              </a:rPr>
              <a:t>Precision, Recall, F1-score, ROC-AUC — not plain accuracy, since accuracy is misleading on this dataset. </a:t>
            </a:r>
          </a:p>
          <a:p>
            <a:pPr marL="285750" indent="-285750">
              <a:lnSpc>
                <a:spcPct val="150000"/>
              </a:lnSpc>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Why Recall matters most here:</a:t>
            </a:r>
            <a:r>
              <a:rPr lang="en-IN" sz="1600" dirty="0">
                <a:latin typeface="Roboto" panose="02000000000000000000" pitchFamily="2" charset="0"/>
                <a:ea typeface="Roboto" panose="02000000000000000000" pitchFamily="2" charset="0"/>
                <a:cs typeface="Roboto" panose="02000000000000000000" pitchFamily="2" charset="0"/>
              </a:rPr>
              <a:t> missing a real failure (false negative) is far costlier than a false alarm (false positive) in a maintenance context.</a:t>
            </a:r>
          </a:p>
          <a:p>
            <a:pPr marL="285750" indent="-285750">
              <a:lnSpc>
                <a:spcPct val="150000"/>
              </a:lnSpc>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Final model chosen:</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a:t>
            </a:r>
            <a:r>
              <a:rPr lang="en-IN" sz="1600" dirty="0">
                <a:latin typeface="Roboto" panose="02000000000000000000" pitchFamily="2" charset="0"/>
                <a:ea typeface="Roboto" panose="02000000000000000000" pitchFamily="2" charset="0"/>
                <a:cs typeface="Roboto" panose="02000000000000000000" pitchFamily="2" charset="0"/>
              </a:rPr>
              <a:t>Random Forest — best balance of Recall and F1 across the test results.</a:t>
            </a:r>
            <a:endParaRPr sz="1600" dirty="0">
              <a:solidFill>
                <a:schemeClr val="dk1"/>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53" name="Google Shape;353;p15">
            <a:extLst>
              <a:ext uri="{FF2B5EF4-FFF2-40B4-BE49-F238E27FC236}">
                <a16:creationId xmlns:a16="http://schemas.microsoft.com/office/drawing/2014/main" id="{86208C7C-3220-C0AE-BCBA-E35892E311A8}"/>
              </a:ext>
            </a:extLst>
          </p:cNvPr>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r>
              <a:rPr lang="en-GB" sz="1200" dirty="0">
                <a:solidFill>
                  <a:srgbClr val="FFFFFF"/>
                </a:solidFill>
                <a:latin typeface="Roboto"/>
                <a:ea typeface="Roboto"/>
                <a:cs typeface="Roboto"/>
                <a:sym typeface="Roboto"/>
              </a:rPr>
              <a:t>© All rights reserved by </a:t>
            </a:r>
            <a:r>
              <a:rPr lang="en-GB" sz="1200" dirty="0" err="1">
                <a:solidFill>
                  <a:srgbClr val="FFFFFF"/>
                </a:solidFill>
                <a:latin typeface="Roboto"/>
                <a:ea typeface="Roboto"/>
                <a:cs typeface="Roboto"/>
                <a:sym typeface="Roboto"/>
              </a:rPr>
              <a:t>Fireblaze</a:t>
            </a:r>
            <a:r>
              <a:rPr lang="en-GB" sz="1200" dirty="0">
                <a:solidFill>
                  <a:srgbClr val="FFFFFF"/>
                </a:solidFill>
                <a:latin typeface="Roboto"/>
                <a:ea typeface="Roboto"/>
                <a:cs typeface="Roboto"/>
                <a:sym typeface="Roboto"/>
              </a:rPr>
              <a:t> Technologies </a:t>
            </a:r>
            <a:r>
              <a:rPr lang="en-GB" sz="1200" dirty="0" err="1">
                <a:solidFill>
                  <a:srgbClr val="FFFFFF"/>
                </a:solidFill>
                <a:latin typeface="Roboto"/>
                <a:ea typeface="Roboto"/>
                <a:cs typeface="Roboto"/>
                <a:sym typeface="Roboto"/>
              </a:rPr>
              <a:t>Pvt.</a:t>
            </a:r>
            <a:r>
              <a:rPr lang="en-GB" sz="1200" dirty="0">
                <a:solidFill>
                  <a:srgbClr val="FFFFFF"/>
                </a:solidFill>
                <a:latin typeface="Roboto"/>
                <a:ea typeface="Roboto"/>
                <a:cs typeface="Roboto"/>
                <a:sym typeface="Roboto"/>
              </a:rPr>
              <a:t> Ltd.</a:t>
            </a:r>
            <a:endParaRPr sz="1200" dirty="0">
              <a:solidFill>
                <a:srgbClr val="FFFFFF"/>
              </a:solidFill>
              <a:latin typeface="Roboto"/>
              <a:ea typeface="Roboto"/>
              <a:cs typeface="Roboto"/>
              <a:sym typeface="Roboto"/>
            </a:endParaRPr>
          </a:p>
        </p:txBody>
      </p:sp>
      <p:sp>
        <p:nvSpPr>
          <p:cNvPr id="354" name="Google Shape;354;p15">
            <a:extLst>
              <a:ext uri="{FF2B5EF4-FFF2-40B4-BE49-F238E27FC236}">
                <a16:creationId xmlns:a16="http://schemas.microsoft.com/office/drawing/2014/main" id="{C92F108D-E52D-D003-0049-7F03EBD33A3D}"/>
              </a:ext>
            </a:extLst>
          </p:cNvPr>
          <p:cNvSpPr/>
          <p:nvPr/>
        </p:nvSpPr>
        <p:spPr>
          <a:xfrm rot="10800000">
            <a:off x="11516800" y="130333"/>
            <a:ext cx="675200" cy="7552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355" name="Google Shape;355;p15">
            <a:extLst>
              <a:ext uri="{FF2B5EF4-FFF2-40B4-BE49-F238E27FC236}">
                <a16:creationId xmlns:a16="http://schemas.microsoft.com/office/drawing/2014/main" id="{7857BEFC-6843-2C6E-2D2E-3AF51D990ECC}"/>
              </a:ext>
            </a:extLst>
          </p:cNvPr>
          <p:cNvSpPr/>
          <p:nvPr/>
        </p:nvSpPr>
        <p:spPr>
          <a:xfrm>
            <a:off x="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Tree>
    <p:extLst>
      <p:ext uri="{BB962C8B-B14F-4D97-AF65-F5344CB8AC3E}">
        <p14:creationId xmlns:p14="http://schemas.microsoft.com/office/powerpoint/2010/main" val="3220203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3F6DCC4-591F-B9D2-3DD8-C03BA46462BA}"/>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1133084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1" name="Google Shape;391;p19"/>
          <p:cNvSpPr txBox="1">
            <a:spLocks noGrp="1"/>
          </p:cNvSpPr>
          <p:nvPr>
            <p:ph type="ctrTitle"/>
          </p:nvPr>
        </p:nvSpPr>
        <p:spPr>
          <a:xfrm>
            <a:off x="0" y="-5670"/>
            <a:ext cx="12192000" cy="990211"/>
          </a:xfrm>
          <a:prstGeom prst="rect">
            <a:avLst/>
          </a:prstGeom>
          <a:solidFill>
            <a:srgbClr val="FF6A0E"/>
          </a:solidFill>
          <a:ln w="9525" cap="flat" cmpd="sng">
            <a:solidFill>
              <a:srgbClr val="FFFFFF"/>
            </a:solidFill>
            <a:prstDash val="solid"/>
            <a:round/>
            <a:headEnd type="none" w="sm" len="sm"/>
            <a:tailEnd type="none" w="sm" len="sm"/>
          </a:ln>
        </p:spPr>
        <p:txBody>
          <a:bodyPr spcFirstLastPara="1" vert="horz" wrap="square" lIns="121900" tIns="121900" rIns="121900" bIns="121900" rtlCol="0" anchor="t" anchorCtr="0">
            <a:noAutofit/>
          </a:bodyPr>
          <a:lstStyle/>
          <a:p>
            <a:pPr marL="599985">
              <a:lnSpc>
                <a:spcPct val="150000"/>
              </a:lnSpc>
              <a:spcBef>
                <a:spcPts val="0"/>
              </a:spcBef>
              <a:spcAft>
                <a:spcPts val="2133"/>
              </a:spcAft>
            </a:pPr>
            <a:r>
              <a:rPr lang="en-GB" sz="4000" b="1" dirty="0">
                <a:solidFill>
                  <a:srgbClr val="FFFFFF"/>
                </a:solidFill>
                <a:latin typeface="Roboto"/>
                <a:ea typeface="Roboto"/>
                <a:cs typeface="Roboto"/>
                <a:sym typeface="Roboto"/>
              </a:rPr>
              <a:t>CONCLUSION</a:t>
            </a:r>
          </a:p>
        </p:txBody>
      </p:sp>
      <p:sp>
        <p:nvSpPr>
          <p:cNvPr id="392" name="Google Shape;392;p19"/>
          <p:cNvSpPr txBox="1"/>
          <p:nvPr/>
        </p:nvSpPr>
        <p:spPr>
          <a:xfrm>
            <a:off x="-191873" y="720870"/>
            <a:ext cx="12192000" cy="5416259"/>
          </a:xfrm>
          <a:prstGeom prst="rect">
            <a:avLst/>
          </a:prstGeom>
          <a:noFill/>
          <a:ln>
            <a:noFill/>
          </a:ln>
        </p:spPr>
        <p:txBody>
          <a:bodyPr spcFirstLastPara="1" wrap="square" lIns="365733" tIns="365733" rIns="365733" bIns="365733" anchor="t" anchorCtr="0">
            <a:noAutofit/>
          </a:bodyPr>
          <a:lstStyle/>
          <a:p>
            <a:pPr marL="895335" indent="-285750" algn="just">
              <a:spcBef>
                <a:spcPts val="2133"/>
              </a:spcBef>
              <a:spcAft>
                <a:spcPts val="2133"/>
              </a:spcAft>
              <a:buFont typeface="Arial" panose="020B0604020202020204" pitchFamily="34" charset="0"/>
              <a:buChar char="•"/>
            </a:pPr>
            <a:r>
              <a:rPr lang="en-IN" sz="1600" dirty="0">
                <a:latin typeface="Roboto" panose="02000000000000000000" pitchFamily="2" charset="0"/>
                <a:ea typeface="Roboto" panose="02000000000000000000" pitchFamily="2" charset="0"/>
                <a:cs typeface="Roboto" panose="02000000000000000000" pitchFamily="2" charset="0"/>
              </a:rPr>
              <a:t>Shifts maintenance from reactive/fixed-schedule to </a:t>
            </a: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predictive</a:t>
            </a:r>
            <a:r>
              <a:rPr lang="en-IN" sz="1600" dirty="0">
                <a:latin typeface="Roboto" panose="02000000000000000000" pitchFamily="2" charset="0"/>
                <a:ea typeface="Roboto" panose="02000000000000000000" pitchFamily="2" charset="0"/>
                <a:cs typeface="Roboto" panose="02000000000000000000" pitchFamily="2" charset="0"/>
              </a:rPr>
              <a:t> — flagging at-risk machines before they fail, not after </a:t>
            </a:r>
          </a:p>
          <a:p>
            <a:pPr marL="895335" indent="-285750" algn="just">
              <a:spcBef>
                <a:spcPts val="2133"/>
              </a:spcBef>
              <a:spcAft>
                <a:spcPts val="2133"/>
              </a:spcAft>
              <a:buFont typeface="Arial" panose="020B0604020202020204" pitchFamily="34" charset="0"/>
              <a:buChar char="•"/>
            </a:pP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Caught ~82% of real failures </a:t>
            </a:r>
            <a:r>
              <a:rPr lang="en-IN" sz="1600" dirty="0">
                <a:latin typeface="Roboto" panose="02000000000000000000" pitchFamily="2" charset="0"/>
                <a:ea typeface="Roboto" panose="02000000000000000000" pitchFamily="2" charset="0"/>
                <a:cs typeface="Roboto" panose="02000000000000000000" pitchFamily="2" charset="0"/>
              </a:rPr>
              <a:t>before occurrence (Recall ≈ 0.82) — most breakdowns no longer need to be a surprise </a:t>
            </a:r>
          </a:p>
          <a:p>
            <a:pPr marL="895335" indent="-285750" algn="just">
              <a:spcBef>
                <a:spcPts val="2133"/>
              </a:spcBef>
              <a:spcAft>
                <a:spcPts val="2133"/>
              </a:spcAft>
              <a:buFont typeface="Arial" panose="020B0604020202020204" pitchFamily="34" charset="0"/>
              <a:buChar char="•"/>
            </a:pP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Reduces unnecessary servicing </a:t>
            </a:r>
            <a:r>
              <a:rPr lang="en-IN" sz="1600" dirty="0">
                <a:latin typeface="Roboto" panose="02000000000000000000" pitchFamily="2" charset="0"/>
                <a:ea typeface="Roboto" panose="02000000000000000000" pitchFamily="2" charset="0"/>
                <a:cs typeface="Roboto" panose="02000000000000000000" pitchFamily="2" charset="0"/>
              </a:rPr>
              <a:t>by targeting only flagged machines instead of every machine on a fixed schedule </a:t>
            </a:r>
          </a:p>
          <a:p>
            <a:pPr marL="895335" indent="-285750" algn="just">
              <a:spcBef>
                <a:spcPts val="2133"/>
              </a:spcBef>
              <a:spcAft>
                <a:spcPts val="2133"/>
              </a:spcAft>
              <a:buFont typeface="Arial" panose="020B0604020202020204" pitchFamily="34" charset="0"/>
              <a:buChar char="•"/>
            </a:pPr>
            <a:r>
              <a:rPr lang="en-IN" sz="1600" dirty="0">
                <a:latin typeface="Roboto" panose="02000000000000000000" pitchFamily="2" charset="0"/>
                <a:ea typeface="Roboto" panose="02000000000000000000" pitchFamily="2" charset="0"/>
                <a:cs typeface="Roboto" panose="02000000000000000000" pitchFamily="2" charset="0"/>
              </a:rPr>
              <a:t>Failure-type prediction lets technicians arrive with the right part in hand, </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cutting repair time </a:t>
            </a:r>
          </a:p>
          <a:p>
            <a:pPr marL="895335" indent="-285750" algn="just">
              <a:spcBef>
                <a:spcPts val="2133"/>
              </a:spcBef>
              <a:spcAft>
                <a:spcPts val="2133"/>
              </a:spcAft>
              <a:buFont typeface="Arial" panose="020B0604020202020204" pitchFamily="34" charset="0"/>
              <a:buChar char="•"/>
            </a:pPr>
            <a:r>
              <a:rPr lang="en-IN" sz="1600" dirty="0">
                <a:latin typeface="Roboto" panose="02000000000000000000" pitchFamily="2" charset="0"/>
                <a:ea typeface="Roboto" panose="02000000000000000000" pitchFamily="2" charset="0"/>
                <a:cs typeface="Roboto" panose="02000000000000000000" pitchFamily="2" charset="0"/>
              </a:rPr>
              <a:t>Trade-off accepted by design: some false alarms (85) vs. missed failures (12) — the right call, since a missed failure costs far more than an unnecessary inspection</a:t>
            </a:r>
          </a:p>
          <a:p>
            <a:pPr marL="895335" indent="-285750" algn="just">
              <a:spcBef>
                <a:spcPts val="2133"/>
              </a:spcBef>
              <a:spcAft>
                <a:spcPts val="2133"/>
              </a:spcAft>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Bottom line:</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a:t>
            </a:r>
            <a:r>
              <a:rPr lang="en-IN" sz="1600" dirty="0">
                <a:latin typeface="Roboto" panose="02000000000000000000" pitchFamily="2" charset="0"/>
                <a:ea typeface="Roboto" panose="02000000000000000000" pitchFamily="2" charset="0"/>
                <a:cs typeface="Roboto" panose="02000000000000000000" pitchFamily="2" charset="0"/>
              </a:rPr>
              <a:t>Converts unpredictable, costly breakdowns into manageable, scheduled interventions — the core value proposition of predictive maintenance</a:t>
            </a:r>
            <a:endParaRPr sz="1600" dirty="0">
              <a:solidFill>
                <a:schemeClr val="dk1"/>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93" name="Google Shape;393;p19"/>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r>
              <a:rPr lang="en-GB" sz="1200" dirty="0">
                <a:solidFill>
                  <a:srgbClr val="FFFFFF"/>
                </a:solidFill>
                <a:latin typeface="Roboto"/>
                <a:ea typeface="Roboto"/>
                <a:cs typeface="Roboto"/>
                <a:sym typeface="Roboto"/>
              </a:rPr>
              <a:t>© All rights reserved by </a:t>
            </a:r>
            <a:r>
              <a:rPr lang="en-GB" sz="1200" dirty="0" err="1">
                <a:solidFill>
                  <a:srgbClr val="FFFFFF"/>
                </a:solidFill>
                <a:latin typeface="Roboto"/>
                <a:ea typeface="Roboto"/>
                <a:cs typeface="Roboto"/>
                <a:sym typeface="Roboto"/>
              </a:rPr>
              <a:t>Fireblaze</a:t>
            </a:r>
            <a:r>
              <a:rPr lang="en-GB" sz="1200" dirty="0">
                <a:solidFill>
                  <a:srgbClr val="FFFFFF"/>
                </a:solidFill>
                <a:latin typeface="Roboto"/>
                <a:ea typeface="Roboto"/>
                <a:cs typeface="Roboto"/>
                <a:sym typeface="Roboto"/>
              </a:rPr>
              <a:t> Technologies </a:t>
            </a:r>
            <a:r>
              <a:rPr lang="en-GB" sz="1200" dirty="0" err="1">
                <a:solidFill>
                  <a:srgbClr val="FFFFFF"/>
                </a:solidFill>
                <a:latin typeface="Roboto"/>
                <a:ea typeface="Roboto"/>
                <a:cs typeface="Roboto"/>
                <a:sym typeface="Roboto"/>
              </a:rPr>
              <a:t>Pvt.</a:t>
            </a:r>
            <a:r>
              <a:rPr lang="en-GB" sz="1200" dirty="0">
                <a:solidFill>
                  <a:srgbClr val="FFFFFF"/>
                </a:solidFill>
                <a:latin typeface="Roboto"/>
                <a:ea typeface="Roboto"/>
                <a:cs typeface="Roboto"/>
                <a:sym typeface="Roboto"/>
              </a:rPr>
              <a:t> Ltd.</a:t>
            </a:r>
            <a:endParaRPr sz="1200" dirty="0">
              <a:solidFill>
                <a:srgbClr val="FFFFFF"/>
              </a:solidFill>
              <a:latin typeface="Roboto"/>
              <a:ea typeface="Roboto"/>
              <a:cs typeface="Roboto"/>
              <a:sym typeface="Roboto"/>
            </a:endParaRPr>
          </a:p>
        </p:txBody>
      </p:sp>
      <p:sp>
        <p:nvSpPr>
          <p:cNvPr id="394" name="Google Shape;394;p19"/>
          <p:cNvSpPr/>
          <p:nvPr/>
        </p:nvSpPr>
        <p:spPr>
          <a:xfrm rot="10800000">
            <a:off x="11516800" y="130333"/>
            <a:ext cx="675200" cy="7552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395" name="Google Shape;395;p19"/>
          <p:cNvSpPr/>
          <p:nvPr/>
        </p:nvSpPr>
        <p:spPr>
          <a:xfrm>
            <a:off x="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Tree>
    <p:extLst>
      <p:ext uri="{BB962C8B-B14F-4D97-AF65-F5344CB8AC3E}">
        <p14:creationId xmlns:p14="http://schemas.microsoft.com/office/powerpoint/2010/main" val="3374026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1" name="Google Shape;391;p19"/>
          <p:cNvSpPr txBox="1">
            <a:spLocks noGrp="1"/>
          </p:cNvSpPr>
          <p:nvPr>
            <p:ph type="ctrTitle"/>
          </p:nvPr>
        </p:nvSpPr>
        <p:spPr>
          <a:xfrm>
            <a:off x="0" y="-5670"/>
            <a:ext cx="12192000" cy="990211"/>
          </a:xfrm>
          <a:prstGeom prst="rect">
            <a:avLst/>
          </a:prstGeom>
          <a:solidFill>
            <a:srgbClr val="FF6A0E"/>
          </a:solidFill>
          <a:ln w="9525" cap="flat" cmpd="sng">
            <a:solidFill>
              <a:srgbClr val="FFFFFF"/>
            </a:solidFill>
            <a:prstDash val="solid"/>
            <a:round/>
            <a:headEnd type="none" w="sm" len="sm"/>
            <a:tailEnd type="none" w="sm" len="sm"/>
          </a:ln>
        </p:spPr>
        <p:txBody>
          <a:bodyPr spcFirstLastPara="1" vert="horz" wrap="square" lIns="121900" tIns="121900" rIns="121900" bIns="121900" rtlCol="0" anchor="t" anchorCtr="0">
            <a:noAutofit/>
          </a:bodyPr>
          <a:lstStyle/>
          <a:p>
            <a:pPr marL="599985">
              <a:lnSpc>
                <a:spcPct val="150000"/>
              </a:lnSpc>
              <a:spcBef>
                <a:spcPts val="0"/>
              </a:spcBef>
              <a:spcAft>
                <a:spcPts val="2133"/>
              </a:spcAft>
            </a:pPr>
            <a:r>
              <a:rPr lang="en-GB" sz="4000" b="1" dirty="0">
                <a:solidFill>
                  <a:srgbClr val="FFFFFF"/>
                </a:solidFill>
                <a:latin typeface="Roboto"/>
                <a:ea typeface="Roboto"/>
                <a:cs typeface="Roboto"/>
                <a:sym typeface="Roboto"/>
              </a:rPr>
              <a:t>FUTURE SCOPE</a:t>
            </a:r>
          </a:p>
        </p:txBody>
      </p:sp>
      <p:sp>
        <p:nvSpPr>
          <p:cNvPr id="392" name="Google Shape;392;p19"/>
          <p:cNvSpPr txBox="1"/>
          <p:nvPr/>
        </p:nvSpPr>
        <p:spPr>
          <a:xfrm>
            <a:off x="217600" y="953535"/>
            <a:ext cx="12192000" cy="5379265"/>
          </a:xfrm>
          <a:prstGeom prst="rect">
            <a:avLst/>
          </a:prstGeom>
          <a:noFill/>
          <a:ln>
            <a:noFill/>
          </a:ln>
        </p:spPr>
        <p:txBody>
          <a:bodyPr spcFirstLastPara="1" wrap="square" lIns="365733" tIns="365733" rIns="365733" bIns="365733" anchor="t" anchorCtr="0">
            <a:noAutofit/>
          </a:bodyPr>
          <a:lstStyle/>
          <a:p>
            <a:pPr marL="342900" indent="-342900">
              <a:lnSpc>
                <a:spcPct val="200000"/>
              </a:lnSpc>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Live/Streaming Data</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 </a:t>
            </a:r>
            <a:r>
              <a:rPr lang="en-IN" sz="1600" dirty="0">
                <a:latin typeface="Roboto" panose="02000000000000000000" pitchFamily="2" charset="0"/>
                <a:ea typeface="Roboto" panose="02000000000000000000" pitchFamily="2" charset="0"/>
                <a:cs typeface="Roboto" panose="02000000000000000000" pitchFamily="2" charset="0"/>
              </a:rPr>
              <a:t>Connect to real sensor feeds via API instead of manual input, allowing predictions to update automatically in real time </a:t>
            </a:r>
          </a:p>
          <a:p>
            <a:pPr marL="342900" indent="-342900">
              <a:lnSpc>
                <a:spcPct val="200000"/>
              </a:lnSpc>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Stronger ML Models</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 </a:t>
            </a:r>
            <a:r>
              <a:rPr lang="en-IN" sz="1600" dirty="0">
                <a:latin typeface="Roboto" panose="02000000000000000000" pitchFamily="2" charset="0"/>
                <a:ea typeface="Roboto" panose="02000000000000000000" pitchFamily="2" charset="0"/>
                <a:cs typeface="Roboto" panose="02000000000000000000" pitchFamily="2" charset="0"/>
              </a:rPr>
              <a:t>Test </a:t>
            </a:r>
            <a:r>
              <a:rPr lang="en-IN" sz="1600" dirty="0" err="1">
                <a:latin typeface="Roboto" panose="02000000000000000000" pitchFamily="2" charset="0"/>
                <a:ea typeface="Roboto" panose="02000000000000000000" pitchFamily="2" charset="0"/>
                <a:cs typeface="Roboto" panose="02000000000000000000" pitchFamily="2" charset="0"/>
              </a:rPr>
              <a:t>XGBoost</a:t>
            </a:r>
            <a:r>
              <a:rPr lang="en-IN" sz="1600" dirty="0">
                <a:latin typeface="Roboto" panose="02000000000000000000" pitchFamily="2" charset="0"/>
                <a:ea typeface="Roboto" panose="02000000000000000000" pitchFamily="2" charset="0"/>
                <a:cs typeface="Roboto" panose="02000000000000000000" pitchFamily="2" charset="0"/>
              </a:rPr>
              <a:t> and </a:t>
            </a:r>
            <a:r>
              <a:rPr lang="en-IN" sz="1600" dirty="0" err="1">
                <a:latin typeface="Roboto" panose="02000000000000000000" pitchFamily="2" charset="0"/>
                <a:ea typeface="Roboto" panose="02000000000000000000" pitchFamily="2" charset="0"/>
                <a:cs typeface="Roboto" panose="02000000000000000000" pitchFamily="2" charset="0"/>
              </a:rPr>
              <a:t>LightGBM</a:t>
            </a:r>
            <a:r>
              <a:rPr lang="en-IN" sz="1600" dirty="0">
                <a:latin typeface="Roboto" panose="02000000000000000000" pitchFamily="2" charset="0"/>
                <a:ea typeface="Roboto" panose="02000000000000000000" pitchFamily="2" charset="0"/>
                <a:cs typeface="Roboto" panose="02000000000000000000" pitchFamily="2" charset="0"/>
              </a:rPr>
              <a:t>, known to outperform Random Forest on tabular data, for potentially better precision-recall </a:t>
            </a:r>
            <a:r>
              <a:rPr lang="en-IN" sz="1600" dirty="0" err="1">
                <a:latin typeface="Roboto" panose="02000000000000000000" pitchFamily="2" charset="0"/>
                <a:ea typeface="Roboto" panose="02000000000000000000" pitchFamily="2" charset="0"/>
                <a:cs typeface="Roboto" panose="02000000000000000000" pitchFamily="2" charset="0"/>
              </a:rPr>
              <a:t>tradeoffs</a:t>
            </a:r>
            <a:r>
              <a:rPr lang="en-IN" sz="1600" dirty="0">
                <a:latin typeface="Roboto" panose="02000000000000000000" pitchFamily="2" charset="0"/>
                <a:ea typeface="Roboto" panose="02000000000000000000" pitchFamily="2" charset="0"/>
                <a:cs typeface="Roboto" panose="02000000000000000000" pitchFamily="2" charset="0"/>
              </a:rPr>
              <a:t> </a:t>
            </a:r>
          </a:p>
          <a:p>
            <a:pPr marL="342900" indent="-342900">
              <a:lnSpc>
                <a:spcPct val="200000"/>
              </a:lnSpc>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Historical Trend Dashboard</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 </a:t>
            </a:r>
            <a:r>
              <a:rPr lang="en-IN" sz="1600" dirty="0">
                <a:latin typeface="Roboto" panose="02000000000000000000" pitchFamily="2" charset="0"/>
                <a:ea typeface="Roboto" panose="02000000000000000000" pitchFamily="2" charset="0"/>
                <a:cs typeface="Roboto" panose="02000000000000000000" pitchFamily="2" charset="0"/>
              </a:rPr>
              <a:t>Add a tab visualizing a machine's failure-risk trend over time using logged predictions, enabling earlier warning signals </a:t>
            </a:r>
          </a:p>
          <a:p>
            <a:pPr marL="342900" indent="-342900">
              <a:lnSpc>
                <a:spcPct val="200000"/>
              </a:lnSpc>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Automated Alerting System</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 </a:t>
            </a:r>
            <a:r>
              <a:rPr lang="en-IN" sz="1600" dirty="0">
                <a:latin typeface="Roboto" panose="02000000000000000000" pitchFamily="2" charset="0"/>
                <a:ea typeface="Roboto" panose="02000000000000000000" pitchFamily="2" charset="0"/>
                <a:cs typeface="Roboto" panose="02000000000000000000" pitchFamily="2" charset="0"/>
              </a:rPr>
              <a:t>Trigger email/notification alerts when predicted failure probability crosses a critical threshold</a:t>
            </a:r>
          </a:p>
          <a:p>
            <a:pPr marL="342900" indent="-342900">
              <a:lnSpc>
                <a:spcPct val="200000"/>
              </a:lnSpc>
              <a:buFont typeface="Arial" panose="020B0604020202020204" pitchFamily="34" charset="0"/>
              <a:buChar char="•"/>
            </a:pPr>
            <a:r>
              <a:rPr lang="en-IN" sz="1600" b="1" dirty="0">
                <a:solidFill>
                  <a:schemeClr val="accent2"/>
                </a:solidFill>
                <a:latin typeface="Roboto" panose="02000000000000000000" pitchFamily="2" charset="0"/>
                <a:ea typeface="Roboto" panose="02000000000000000000" pitchFamily="2" charset="0"/>
                <a:cs typeface="Roboto" panose="02000000000000000000" pitchFamily="2" charset="0"/>
              </a:rPr>
              <a:t>Multi-Machine Monitoring View</a:t>
            </a:r>
            <a:r>
              <a:rPr lang="en-IN" sz="1600" dirty="0">
                <a:solidFill>
                  <a:schemeClr val="accent2"/>
                </a:solidFill>
                <a:latin typeface="Roboto" panose="02000000000000000000" pitchFamily="2" charset="0"/>
                <a:ea typeface="Roboto" panose="02000000000000000000" pitchFamily="2" charset="0"/>
                <a:cs typeface="Roboto" panose="02000000000000000000" pitchFamily="2" charset="0"/>
              </a:rPr>
              <a:t> — </a:t>
            </a:r>
            <a:r>
              <a:rPr lang="en-IN" sz="1600" dirty="0">
                <a:latin typeface="Roboto" panose="02000000000000000000" pitchFamily="2" charset="0"/>
                <a:ea typeface="Roboto" panose="02000000000000000000" pitchFamily="2" charset="0"/>
                <a:cs typeface="Roboto" panose="02000000000000000000" pitchFamily="2" charset="0"/>
              </a:rPr>
              <a:t>Extend from single-machine input to a dashboard tracking multiple machines, sorted by risk level</a:t>
            </a:r>
            <a:endParaRPr lang="en-IN" sz="1600" dirty="0">
              <a:solidFill>
                <a:schemeClr val="dk1"/>
              </a:solidFill>
              <a:latin typeface="Roboto" panose="02000000000000000000" pitchFamily="2" charset="0"/>
              <a:ea typeface="Roboto" panose="02000000000000000000" pitchFamily="2" charset="0"/>
              <a:cs typeface="Roboto" panose="02000000000000000000" pitchFamily="2" charset="0"/>
              <a:sym typeface="Roboto"/>
            </a:endParaRPr>
          </a:p>
        </p:txBody>
      </p:sp>
      <p:sp>
        <p:nvSpPr>
          <p:cNvPr id="393" name="Google Shape;393;p19"/>
          <p:cNvSpPr txBox="1"/>
          <p:nvPr/>
        </p:nvSpPr>
        <p:spPr>
          <a:xfrm>
            <a:off x="-13400" y="6400800"/>
            <a:ext cx="12218800" cy="360800"/>
          </a:xfrm>
          <a:prstGeom prst="rect">
            <a:avLst/>
          </a:prstGeom>
          <a:solidFill>
            <a:srgbClr val="FF6A0E"/>
          </a:solidFill>
          <a:ln>
            <a:noFill/>
          </a:ln>
        </p:spPr>
        <p:txBody>
          <a:bodyPr spcFirstLastPara="1" wrap="square" lIns="121900" tIns="121900" rIns="121900" bIns="121900" anchor="ctr" anchorCtr="0">
            <a:noAutofit/>
          </a:bodyPr>
          <a:lstStyle/>
          <a:p>
            <a:pPr marR="243834" algn="r"/>
            <a:r>
              <a:rPr lang="en-GB" sz="1200" dirty="0">
                <a:solidFill>
                  <a:srgbClr val="FFFFFF"/>
                </a:solidFill>
                <a:latin typeface="Roboto"/>
                <a:ea typeface="Roboto"/>
                <a:cs typeface="Roboto"/>
                <a:sym typeface="Roboto"/>
              </a:rPr>
              <a:t>© All rights reserved by </a:t>
            </a:r>
            <a:r>
              <a:rPr lang="en-GB" sz="1200" dirty="0" err="1">
                <a:solidFill>
                  <a:srgbClr val="FFFFFF"/>
                </a:solidFill>
                <a:latin typeface="Roboto"/>
                <a:ea typeface="Roboto"/>
                <a:cs typeface="Roboto"/>
                <a:sym typeface="Roboto"/>
              </a:rPr>
              <a:t>Fireblaze</a:t>
            </a:r>
            <a:r>
              <a:rPr lang="en-GB" sz="1200" dirty="0">
                <a:solidFill>
                  <a:srgbClr val="FFFFFF"/>
                </a:solidFill>
                <a:latin typeface="Roboto"/>
                <a:ea typeface="Roboto"/>
                <a:cs typeface="Roboto"/>
                <a:sym typeface="Roboto"/>
              </a:rPr>
              <a:t> Technologies </a:t>
            </a:r>
            <a:r>
              <a:rPr lang="en-GB" sz="1200" dirty="0" err="1">
                <a:solidFill>
                  <a:srgbClr val="FFFFFF"/>
                </a:solidFill>
                <a:latin typeface="Roboto"/>
                <a:ea typeface="Roboto"/>
                <a:cs typeface="Roboto"/>
                <a:sym typeface="Roboto"/>
              </a:rPr>
              <a:t>Pvt.</a:t>
            </a:r>
            <a:r>
              <a:rPr lang="en-GB" sz="1200" dirty="0">
                <a:solidFill>
                  <a:srgbClr val="FFFFFF"/>
                </a:solidFill>
                <a:latin typeface="Roboto"/>
                <a:ea typeface="Roboto"/>
                <a:cs typeface="Roboto"/>
                <a:sym typeface="Roboto"/>
              </a:rPr>
              <a:t> Ltd.</a:t>
            </a:r>
            <a:endParaRPr sz="1200" dirty="0">
              <a:solidFill>
                <a:srgbClr val="FFFFFF"/>
              </a:solidFill>
              <a:latin typeface="Roboto"/>
              <a:ea typeface="Roboto"/>
              <a:cs typeface="Roboto"/>
              <a:sym typeface="Roboto"/>
            </a:endParaRPr>
          </a:p>
        </p:txBody>
      </p:sp>
      <p:sp>
        <p:nvSpPr>
          <p:cNvPr id="394" name="Google Shape;394;p19"/>
          <p:cNvSpPr/>
          <p:nvPr/>
        </p:nvSpPr>
        <p:spPr>
          <a:xfrm rot="10800000">
            <a:off x="11516800" y="130333"/>
            <a:ext cx="675200" cy="7552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
        <p:nvSpPr>
          <p:cNvPr id="395" name="Google Shape;395;p19"/>
          <p:cNvSpPr/>
          <p:nvPr/>
        </p:nvSpPr>
        <p:spPr>
          <a:xfrm>
            <a:off x="0" y="6400800"/>
            <a:ext cx="435200" cy="360800"/>
          </a:xfrm>
          <a:prstGeom prst="rtTriangle">
            <a:avLst/>
          </a:prstGeom>
          <a:solidFill>
            <a:srgbClr val="FF9900"/>
          </a:solidFill>
          <a:ln>
            <a:noFill/>
          </a:ln>
        </p:spPr>
        <p:txBody>
          <a:bodyPr spcFirstLastPara="1" wrap="square" lIns="121900" tIns="121900" rIns="121900" bIns="121900" anchor="ctr" anchorCtr="0">
            <a:noAutofit/>
          </a:bodyPr>
          <a:lstStyle/>
          <a:p>
            <a:endParaRPr sz="2400"/>
          </a:p>
        </p:txBody>
      </p:sp>
    </p:spTree>
    <p:extLst>
      <p:ext uri="{BB962C8B-B14F-4D97-AF65-F5344CB8AC3E}">
        <p14:creationId xmlns:p14="http://schemas.microsoft.com/office/powerpoint/2010/main" val="22208286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C7EC8B5-2771-4873-FEC9-8288D945149F}"/>
              </a:ext>
            </a:extLst>
          </p:cNvPr>
          <p:cNvSpPr/>
          <p:nvPr/>
        </p:nvSpPr>
        <p:spPr>
          <a:xfrm>
            <a:off x="0" y="0"/>
            <a:ext cx="12191999" cy="685800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8800" dirty="0">
                <a:latin typeface="Roboto" panose="02000000000000000000" pitchFamily="2" charset="0"/>
                <a:ea typeface="Roboto" panose="02000000000000000000" pitchFamily="2" charset="0"/>
                <a:cs typeface="Roboto" panose="02000000000000000000" pitchFamily="2" charset="0"/>
              </a:rPr>
              <a:t>THANK YOU.</a:t>
            </a:r>
          </a:p>
        </p:txBody>
      </p:sp>
    </p:spTree>
    <p:extLst>
      <p:ext uri="{BB962C8B-B14F-4D97-AF65-F5344CB8AC3E}">
        <p14:creationId xmlns:p14="http://schemas.microsoft.com/office/powerpoint/2010/main" val="25033916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501</TotalTime>
  <Words>1018</Words>
  <Application>Microsoft Office PowerPoint</Application>
  <PresentationFormat>Widescreen</PresentationFormat>
  <Paragraphs>63</Paragraphs>
  <Slides>12</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Roboto</vt:lpstr>
      <vt:lpstr>Office Theme</vt:lpstr>
      <vt:lpstr>PowerPoint Presentation</vt:lpstr>
      <vt:lpstr>PROBLEM STATEMENT</vt:lpstr>
      <vt:lpstr>ABOUT THE DATA</vt:lpstr>
      <vt:lpstr>CLASS IMBALANCE</vt:lpstr>
      <vt:lpstr>FAILURE TYPE BREAKDOWN</vt:lpstr>
      <vt:lpstr>MODEL COMPARISON</vt:lpstr>
      <vt:lpstr>CONFUSION MATRIX</vt:lpstr>
      <vt:lpstr>PROPOSED SOLUTION</vt:lpstr>
      <vt:lpstr>PowerPoint Presentation</vt:lpstr>
      <vt:lpstr>CONCLUSION</vt:lpstr>
      <vt:lpstr>FUTURE SCOPE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Zebion</dc:creator>
  <cp:lastModifiedBy>Juhi Moudekar</cp:lastModifiedBy>
  <cp:revision>17</cp:revision>
  <dcterms:created xsi:type="dcterms:W3CDTF">2022-08-27T05:41:13Z</dcterms:created>
  <dcterms:modified xsi:type="dcterms:W3CDTF">2026-06-21T12:29:31Z</dcterms:modified>
</cp:coreProperties>
</file>