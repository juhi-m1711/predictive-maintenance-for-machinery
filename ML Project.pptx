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66" r:id="rId4"/>
    <p:sldId id="259" r:id="rId5"/>
    <p:sldId id="264" r:id="rId6"/>
    <p:sldId id="26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9" autoAdjust="0"/>
    <p:restoredTop sz="94660"/>
  </p:normalViewPr>
  <p:slideViewPr>
    <p:cSldViewPr snapToGrid="0">
      <p:cViewPr varScale="1">
        <p:scale>
          <a:sx n="82" d="100"/>
          <a:sy n="82" d="100"/>
        </p:scale>
        <p:origin x="53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1B73ED-5A7F-49D9-8DE0-65F5ABD04C5E}" type="datetimeFigureOut">
              <a:rPr lang="en-IN" smtClean="0"/>
              <a:t>19-06-2026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66326A-A01E-48D9-9C79-95BB8A3B18F6}" type="slidenum">
              <a:rPr lang="en-IN" smtClean="0"/>
              <a:t>‹#›</a:t>
            </a:fld>
            <a:endParaRPr lang="en-IN"/>
          </a:p>
        </p:txBody>
      </p:sp>
    </p:spTree>
    <p:extLst>
      <p:ext uri="{BB962C8B-B14F-4D97-AF65-F5344CB8AC3E}">
        <p14:creationId xmlns:p14="http://schemas.microsoft.com/office/powerpoint/2010/main" val="120805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7223bd2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7223bd2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620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caee8303e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79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85367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b7223bd2a0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0906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40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410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13671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322149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8F6550-DC47-412E-A6BD-C043C18783D6}"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3848343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38F6550-DC47-412E-A6BD-C043C18783D6}"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884011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38F6550-DC47-412E-A6BD-C043C18783D6}"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176291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38F6550-DC47-412E-A6BD-C043C18783D6}"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454250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F6550-DC47-412E-A6BD-C043C18783D6}" type="datetimeFigureOut">
              <a:rPr lang="en-IN" smtClean="0"/>
              <a:t>19-06-2026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83748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8F6550-DC47-412E-A6BD-C043C18783D6}"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175328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8F6550-DC47-412E-A6BD-C043C18783D6}"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760098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1020621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77814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8F6550-DC47-412E-A6BD-C043C18783D6}" type="datetimeFigureOut">
              <a:rPr lang="en-IN" smtClean="0"/>
              <a:t>19-06-2026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7D71CF-7B1B-462D-96FD-DE7121FB0FF9}" type="slidenum">
              <a:rPr lang="en-IN" smtClean="0"/>
              <a:t>‹#›</a:t>
            </a:fld>
            <a:endParaRPr lang="en-IN"/>
          </a:p>
        </p:txBody>
      </p:sp>
    </p:spTree>
    <p:extLst>
      <p:ext uri="{BB962C8B-B14F-4D97-AF65-F5344CB8AC3E}">
        <p14:creationId xmlns:p14="http://schemas.microsoft.com/office/powerpoint/2010/main" val="277979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archive.ics.uci.edu/dataset/601/ai4i+2020+predictive+maintenance+datase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30" name="Google Shape;330;p13"/>
          <p:cNvSpPr txBox="1"/>
          <p:nvPr/>
        </p:nvSpPr>
        <p:spPr>
          <a:xfrm>
            <a:off x="100498" y="1991760"/>
            <a:ext cx="11991004" cy="734389"/>
          </a:xfrm>
          <a:prstGeom prst="rect">
            <a:avLst/>
          </a:prstGeom>
          <a:noFill/>
          <a:ln>
            <a:noFill/>
          </a:ln>
        </p:spPr>
        <p:txBody>
          <a:bodyPr spcFirstLastPara="1" wrap="square" lIns="121900" tIns="121900" rIns="121900" bIns="121900" anchor="ctr" anchorCtr="0">
            <a:noAutofit/>
          </a:bodyPr>
          <a:lstStyle/>
          <a:p>
            <a:pPr algn="ctr"/>
            <a:r>
              <a:rPr lang="en-GB" sz="4000" b="1" dirty="0">
                <a:solidFill>
                  <a:srgbClr val="FF6A0E"/>
                </a:solidFill>
                <a:latin typeface="Roboto" panose="02000000000000000000" pitchFamily="2" charset="0"/>
                <a:ea typeface="Roboto" panose="02000000000000000000" pitchFamily="2" charset="0"/>
                <a:cs typeface="Roboto" panose="02000000000000000000" pitchFamily="2" charset="0"/>
              </a:rPr>
              <a:t>PREDICTIVE MAINTENANCE FOR MACHINERY</a:t>
            </a:r>
          </a:p>
        </p:txBody>
      </p:sp>
      <p:sp>
        <p:nvSpPr>
          <p:cNvPr id="334" name="Google Shape;334;p13"/>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buClr>
                <a:srgbClr val="000000"/>
              </a:buClr>
              <a:buSzPts val="1200"/>
            </a:pPr>
            <a:r>
              <a:rPr lang="en-GB" sz="1200" dirty="0">
                <a:solidFill>
                  <a:srgbClr val="FFFFFF"/>
                </a:solidFill>
                <a:latin typeface="Roboto" panose="02000000000000000000" pitchFamily="2" charset="0"/>
                <a:ea typeface="Roboto" panose="02000000000000000000" pitchFamily="2" charset="0"/>
                <a:cs typeface="Roboto" panose="02000000000000000000" pitchFamily="2" charset="0"/>
                <a:sym typeface="Roboto"/>
              </a:rPr>
              <a:t>© All rights reserved by </a:t>
            </a:r>
            <a:r>
              <a:rPr lang="en-GB" sz="1200" dirty="0" err="1">
                <a:solidFill>
                  <a:srgbClr val="FFFFFF"/>
                </a:solidFill>
                <a:latin typeface="Roboto" panose="02000000000000000000" pitchFamily="2" charset="0"/>
                <a:ea typeface="Roboto" panose="02000000000000000000" pitchFamily="2" charset="0"/>
                <a:cs typeface="Roboto" panose="02000000000000000000" pitchFamily="2" charset="0"/>
                <a:sym typeface="Roboto"/>
              </a:rPr>
              <a:t>Fireblaze</a:t>
            </a:r>
            <a:r>
              <a:rPr lang="en-GB" sz="1200" dirty="0">
                <a:solidFill>
                  <a:srgbClr val="FFFFFF"/>
                </a:solidFill>
                <a:latin typeface="Roboto" panose="02000000000000000000" pitchFamily="2" charset="0"/>
                <a:ea typeface="Roboto" panose="02000000000000000000" pitchFamily="2" charset="0"/>
                <a:cs typeface="Roboto" panose="02000000000000000000" pitchFamily="2" charset="0"/>
                <a:sym typeface="Roboto"/>
              </a:rPr>
              <a:t> Technologies </a:t>
            </a:r>
            <a:r>
              <a:rPr lang="en-GB" sz="1200" dirty="0" err="1">
                <a:solidFill>
                  <a:srgbClr val="FFFFFF"/>
                </a:solidFill>
                <a:latin typeface="Roboto" panose="02000000000000000000" pitchFamily="2" charset="0"/>
                <a:ea typeface="Roboto" panose="02000000000000000000" pitchFamily="2" charset="0"/>
                <a:cs typeface="Roboto" panose="02000000000000000000" pitchFamily="2" charset="0"/>
                <a:sym typeface="Roboto"/>
              </a:rPr>
              <a:t>Pvt.</a:t>
            </a:r>
            <a:r>
              <a:rPr lang="en-GB" sz="1200" dirty="0">
                <a:solidFill>
                  <a:srgbClr val="FFFFFF"/>
                </a:solidFill>
                <a:latin typeface="Roboto" panose="02000000000000000000" pitchFamily="2" charset="0"/>
                <a:ea typeface="Roboto" panose="02000000000000000000" pitchFamily="2" charset="0"/>
                <a:cs typeface="Roboto" panose="02000000000000000000" pitchFamily="2" charset="0"/>
                <a:sym typeface="Roboto"/>
              </a:rPr>
              <a:t> Ltd.</a:t>
            </a:r>
            <a:endParaRPr sz="1200" dirty="0">
              <a:solidFill>
                <a:srgbClr val="FFFFFF"/>
              </a:solidFill>
              <a:latin typeface="Roboto" panose="02000000000000000000" pitchFamily="2" charset="0"/>
              <a:ea typeface="Roboto" panose="02000000000000000000" pitchFamily="2" charset="0"/>
              <a:cs typeface="Roboto" panose="02000000000000000000" pitchFamily="2" charset="0"/>
              <a:sym typeface="Roboto"/>
            </a:endParaRPr>
          </a:p>
        </p:txBody>
      </p:sp>
      <p:sp>
        <p:nvSpPr>
          <p:cNvPr id="335" name="Google Shape;335;p13"/>
          <p:cNvSpPr/>
          <p:nvPr/>
        </p:nvSpPr>
        <p:spPr>
          <a:xfrm>
            <a:off x="-1340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4D63B57-2B6C-4AEF-AA4E-F393A4E8B2DF}"/>
              </a:ext>
            </a:extLst>
          </p:cNvPr>
          <p:cNvSpPr txBox="1"/>
          <p:nvPr/>
        </p:nvSpPr>
        <p:spPr>
          <a:xfrm>
            <a:off x="4885226" y="4539843"/>
            <a:ext cx="2421548" cy="646331"/>
          </a:xfrm>
          <a:prstGeom prst="rect">
            <a:avLst/>
          </a:prstGeom>
          <a:noFill/>
        </p:spPr>
        <p:txBody>
          <a:bodyPr wrap="square" rtlCol="0">
            <a:spAutoFit/>
          </a:bodyPr>
          <a:lstStyle/>
          <a:p>
            <a:pPr algn="ctr"/>
            <a:r>
              <a:rPr lang="en-US" b="1" dirty="0">
                <a:solidFill>
                  <a:srgbClr val="FF6A0E"/>
                </a:solidFill>
                <a:latin typeface="Roboto" panose="02000000000000000000" pitchFamily="2" charset="0"/>
                <a:ea typeface="Roboto" panose="02000000000000000000" pitchFamily="2" charset="0"/>
                <a:cs typeface="Roboto" panose="02000000000000000000" pitchFamily="2" charset="0"/>
              </a:rPr>
              <a:t>Presented by: </a:t>
            </a:r>
          </a:p>
          <a:p>
            <a:pPr algn="ctr"/>
            <a:r>
              <a:rPr lang="en-US" b="1" dirty="0">
                <a:solidFill>
                  <a:srgbClr val="FF6A0E"/>
                </a:solidFill>
                <a:latin typeface="Roboto" panose="02000000000000000000" pitchFamily="2" charset="0"/>
                <a:ea typeface="Roboto" panose="02000000000000000000" pitchFamily="2" charset="0"/>
                <a:cs typeface="Roboto" panose="02000000000000000000" pitchFamily="2" charset="0"/>
              </a:rPr>
              <a:t>Juhi Moudekar</a:t>
            </a:r>
            <a:endParaRPr lang="en-IN" b="1" dirty="0">
              <a:solidFill>
                <a:srgbClr val="FF6A0E"/>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0596" y="172324"/>
            <a:ext cx="848809" cy="734389"/>
          </a:xfrm>
          <a:prstGeom prst="rect">
            <a:avLst/>
          </a:prstGeom>
        </p:spPr>
      </p:pic>
      <p:sp>
        <p:nvSpPr>
          <p:cNvPr id="4" name="TextBox 3">
            <a:extLst>
              <a:ext uri="{FF2B5EF4-FFF2-40B4-BE49-F238E27FC236}">
                <a16:creationId xmlns:a16="http://schemas.microsoft.com/office/drawing/2014/main" id="{5F4F5BDE-47F3-2124-9C82-D14150C2EE34}"/>
              </a:ext>
            </a:extLst>
          </p:cNvPr>
          <p:cNvSpPr txBox="1"/>
          <p:nvPr/>
        </p:nvSpPr>
        <p:spPr>
          <a:xfrm>
            <a:off x="1094792" y="3294442"/>
            <a:ext cx="10002416" cy="677108"/>
          </a:xfrm>
          <a:prstGeom prst="rect">
            <a:avLst/>
          </a:prstGeom>
          <a:noFill/>
        </p:spPr>
        <p:txBody>
          <a:bodyPr wrap="square" rtlCol="0">
            <a:spAutoFit/>
          </a:bodyPr>
          <a:lstStyle/>
          <a:p>
            <a:pPr algn="ctr"/>
            <a:r>
              <a:rPr lang="en-US" b="1" dirty="0">
                <a:solidFill>
                  <a:srgbClr val="FF6A0E"/>
                </a:solidFill>
                <a:latin typeface="Roboto" panose="02000000000000000000" pitchFamily="2" charset="0"/>
                <a:ea typeface="Roboto" panose="02000000000000000000" pitchFamily="2" charset="0"/>
                <a:cs typeface="Roboto" panose="02000000000000000000" pitchFamily="2" charset="0"/>
              </a:rPr>
              <a:t>TOOLS &amp; TECHNOLOGY USED:</a:t>
            </a:r>
            <a:endParaRPr lang="en-US" sz="2000" b="1" dirty="0">
              <a:solidFill>
                <a:srgbClr val="FF6A0E"/>
              </a:solidFill>
              <a:latin typeface="Roboto" panose="02000000000000000000" pitchFamily="2" charset="0"/>
              <a:ea typeface="Roboto" panose="02000000000000000000" pitchFamily="2" charset="0"/>
              <a:cs typeface="Roboto" panose="02000000000000000000" pitchFamily="2" charset="0"/>
            </a:endParaRPr>
          </a:p>
          <a:p>
            <a:pPr algn="ctr"/>
            <a:r>
              <a:rPr lang="en-US" sz="2000" b="1" dirty="0">
                <a:solidFill>
                  <a:srgbClr val="FF6A0E"/>
                </a:solidFill>
                <a:latin typeface="Roboto" panose="02000000000000000000" pitchFamily="2" charset="0"/>
                <a:ea typeface="Roboto" panose="02000000000000000000" pitchFamily="2" charset="0"/>
                <a:cs typeface="Roboto" panose="02000000000000000000" pitchFamily="2" charset="0"/>
              </a:rPr>
              <a:t>Supervised Machine Learning Technique, Python.</a:t>
            </a:r>
            <a:endParaRPr lang="en-IN" sz="2000" b="1" dirty="0">
              <a:solidFill>
                <a:srgbClr val="FF6A0E"/>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478729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14"/>
          <p:cNvSpPr txBox="1">
            <a:spLocks noGrp="1"/>
          </p:cNvSpPr>
          <p:nvPr>
            <p:ph type="ctrTitle"/>
          </p:nvPr>
        </p:nvSpPr>
        <p:spPr>
          <a:xfrm>
            <a:off x="-13400" y="0"/>
            <a:ext cx="12192000" cy="947680"/>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nSpc>
                <a:spcPct val="150000"/>
              </a:lnSpc>
              <a:spcBef>
                <a:spcPts val="0"/>
              </a:spcBef>
              <a:spcAft>
                <a:spcPts val="2133"/>
              </a:spcAft>
            </a:pPr>
            <a:r>
              <a:rPr lang="en-GB" sz="4000" b="1" dirty="0">
                <a:solidFill>
                  <a:srgbClr val="FFFFFF"/>
                </a:solidFill>
                <a:latin typeface="Roboto" panose="02000000000000000000" pitchFamily="2" charset="0"/>
                <a:ea typeface="Roboto" panose="02000000000000000000" pitchFamily="2" charset="0"/>
                <a:cs typeface="Roboto" panose="02000000000000000000" pitchFamily="2" charset="0"/>
                <a:sym typeface="Roboto"/>
              </a:rPr>
              <a:t>PROBLEM STATEMENT</a:t>
            </a:r>
          </a:p>
        </p:txBody>
      </p:sp>
      <p:sp>
        <p:nvSpPr>
          <p:cNvPr id="342" name="Google Shape;342;p14"/>
          <p:cNvSpPr txBox="1"/>
          <p:nvPr/>
        </p:nvSpPr>
        <p:spPr>
          <a:xfrm>
            <a:off x="26800" y="1069600"/>
            <a:ext cx="12192000" cy="5331200"/>
          </a:xfrm>
          <a:prstGeom prst="rect">
            <a:avLst/>
          </a:prstGeom>
          <a:noFill/>
          <a:ln>
            <a:noFill/>
          </a:ln>
        </p:spPr>
        <p:txBody>
          <a:bodyPr spcFirstLastPara="1" wrap="square" lIns="365733" tIns="365733" rIns="365733" bIns="365733" anchor="t" anchorCtr="0">
            <a:noAutofit/>
          </a:bodyPr>
          <a:lstStyle/>
          <a:p>
            <a:pPr marL="135463" algn="just">
              <a:lnSpc>
                <a:spcPct val="150000"/>
              </a:lnSpc>
              <a:buClr>
                <a:srgbClr val="000000"/>
              </a:buClr>
              <a:buSzPts val="2000"/>
            </a:pPr>
            <a:endParaRPr sz="2667" dirty="0">
              <a:solidFill>
                <a:schemeClr val="dk1"/>
              </a:solidFill>
              <a:latin typeface="Roboto"/>
              <a:ea typeface="Roboto"/>
              <a:cs typeface="Roboto"/>
              <a:sym typeface="Roboto"/>
            </a:endParaRPr>
          </a:p>
        </p:txBody>
      </p:sp>
      <p:sp>
        <p:nvSpPr>
          <p:cNvPr id="343" name="Google Shape;343;p14"/>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44" name="Google Shape;344;p14"/>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45" name="Google Shape;345;p14"/>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69205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nSpc>
                <a:spcPct val="150000"/>
              </a:lnSpc>
              <a:spcBef>
                <a:spcPts val="0"/>
              </a:spcBef>
              <a:spcAft>
                <a:spcPts val="2133"/>
              </a:spcAft>
            </a:pPr>
            <a:r>
              <a:rPr lang="en-GB" sz="4000" b="1" dirty="0">
                <a:solidFill>
                  <a:srgbClr val="FFFFFF"/>
                </a:solidFill>
                <a:latin typeface="Roboto"/>
                <a:ea typeface="Roboto"/>
                <a:cs typeface="Roboto"/>
                <a:sym typeface="Roboto"/>
              </a:rPr>
              <a:t>ABOUT THE DATA</a:t>
            </a:r>
          </a:p>
        </p:txBody>
      </p:sp>
      <p:sp>
        <p:nvSpPr>
          <p:cNvPr id="392" name="Google Shape;392;p19"/>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2E7DC3D3-2CC9-4823-8347-B9E8751FD28A}"/>
              </a:ext>
            </a:extLst>
          </p:cNvPr>
          <p:cNvSpPr txBox="1"/>
          <p:nvPr/>
        </p:nvSpPr>
        <p:spPr>
          <a:xfrm>
            <a:off x="149289" y="1179886"/>
            <a:ext cx="11728580" cy="4926563"/>
          </a:xfrm>
          <a:prstGeom prst="rect">
            <a:avLst/>
          </a:prstGeom>
          <a:noFill/>
          <a:ln>
            <a:noFill/>
          </a:ln>
        </p:spPr>
        <p:txBody>
          <a:bodyPr spcFirstLastPara="1" wrap="square" lIns="365733" tIns="365733" rIns="365733" bIns="365733" anchor="t" anchorCtr="0">
            <a:noAutofit/>
          </a:bodyPr>
          <a:lstStyle/>
          <a:p>
            <a:pPr>
              <a:lnSpc>
                <a:spcPct val="150000"/>
              </a:lnSpc>
            </a:pPr>
            <a:r>
              <a:rPr lang="en-IN" sz="1600" b="1" dirty="0">
                <a:solidFill>
                  <a:schemeClr val="accent2"/>
                </a:solidFill>
                <a:latin typeface="Roboto" panose="02000000000000000000" pitchFamily="2" charset="0"/>
                <a:ea typeface="Roboto" panose="02000000000000000000" pitchFamily="2" charset="0"/>
                <a:cs typeface="Roboto" panose="02000000000000000000" pitchFamily="2" charset="0"/>
              </a:rPr>
              <a:t>1. Dataset: </a:t>
            </a:r>
            <a:r>
              <a:rPr lang="en-IN" sz="1600" dirty="0">
                <a:latin typeface="Roboto" panose="02000000000000000000" pitchFamily="2" charset="0"/>
                <a:ea typeface="Roboto" panose="02000000000000000000" pitchFamily="2" charset="0"/>
                <a:cs typeface="Roboto" panose="02000000000000000000" pitchFamily="2" charset="0"/>
              </a:rPr>
              <a:t>AI4I 2020 Predictive Maintenance Dataset</a:t>
            </a:r>
            <a:br>
              <a:rPr lang="en-IN" sz="1600" dirty="0">
                <a:latin typeface="Roboto" panose="02000000000000000000" pitchFamily="2" charset="0"/>
                <a:ea typeface="Roboto" panose="02000000000000000000" pitchFamily="2" charset="0"/>
                <a:cs typeface="Roboto" panose="02000000000000000000" pitchFamily="2" charset="0"/>
              </a:rPr>
            </a:br>
            <a:r>
              <a:rPr lang="en-IN" sz="1600" b="1" dirty="0">
                <a:solidFill>
                  <a:schemeClr val="accent2"/>
                </a:solidFill>
                <a:latin typeface="Roboto" panose="02000000000000000000" pitchFamily="2" charset="0"/>
                <a:ea typeface="Roboto" panose="02000000000000000000" pitchFamily="2" charset="0"/>
                <a:cs typeface="Roboto" panose="02000000000000000000" pitchFamily="2" charset="0"/>
              </a:rPr>
              <a:t>2. Source: </a:t>
            </a:r>
            <a:r>
              <a:rPr lang="en-IN" sz="1600" dirty="0">
                <a:latin typeface="Roboto" panose="02000000000000000000" pitchFamily="2" charset="0"/>
                <a:ea typeface="Roboto" panose="02000000000000000000" pitchFamily="2" charset="0"/>
                <a:cs typeface="Roboto" panose="02000000000000000000" pitchFamily="2" charset="0"/>
              </a:rPr>
              <a:t>UCI Machine Learning Repository</a:t>
            </a:r>
            <a:br>
              <a:rPr lang="en-IN" sz="1600" dirty="0">
                <a:latin typeface="Roboto" panose="02000000000000000000" pitchFamily="2" charset="0"/>
                <a:ea typeface="Roboto" panose="02000000000000000000" pitchFamily="2" charset="0"/>
                <a:cs typeface="Roboto" panose="02000000000000000000" pitchFamily="2" charset="0"/>
              </a:rPr>
            </a:br>
            <a:r>
              <a:rPr lang="en-IN" sz="1600" b="1" dirty="0">
                <a:solidFill>
                  <a:schemeClr val="accent2"/>
                </a:solidFill>
                <a:latin typeface="Roboto" panose="02000000000000000000" pitchFamily="2" charset="0"/>
                <a:ea typeface="Roboto" panose="02000000000000000000" pitchFamily="2" charset="0"/>
                <a:cs typeface="Roboto" panose="02000000000000000000" pitchFamily="2" charset="0"/>
              </a:rPr>
              <a:t>3. URL: </a:t>
            </a:r>
            <a:r>
              <a:rPr lang="en-IN" sz="1600" dirty="0">
                <a:latin typeface="Roboto" panose="02000000000000000000" pitchFamily="2" charset="0"/>
                <a:ea typeface="Roboto" panose="02000000000000000000" pitchFamily="2" charset="0"/>
                <a:cs typeface="Roboto" panose="02000000000000000000" pitchFamily="2" charset="0"/>
                <a:hlinkClick r:id="rId3"/>
              </a:rPr>
              <a:t>https://archive.ics.uci.edu/dataset/601/ai4i+2020+predictive+maintenance+dataset</a:t>
            </a:r>
            <a:br>
              <a:rPr lang="en-IN" sz="1600" dirty="0">
                <a:latin typeface="Roboto" panose="02000000000000000000" pitchFamily="2" charset="0"/>
                <a:ea typeface="Roboto" panose="02000000000000000000" pitchFamily="2" charset="0"/>
                <a:cs typeface="Roboto" panose="02000000000000000000" pitchFamily="2" charset="0"/>
              </a:rPr>
            </a:br>
            <a:r>
              <a:rPr lang="en-IN" sz="1600" b="1" dirty="0">
                <a:solidFill>
                  <a:schemeClr val="accent2"/>
                </a:solidFill>
                <a:latin typeface="Roboto" panose="02000000000000000000" pitchFamily="2" charset="0"/>
                <a:ea typeface="Roboto" panose="02000000000000000000" pitchFamily="2" charset="0"/>
                <a:cs typeface="Roboto" panose="02000000000000000000" pitchFamily="2" charset="0"/>
              </a:rPr>
              <a:t>4. Description:</a:t>
            </a:r>
            <a:r>
              <a:rPr lang="en-IN" sz="1600" dirty="0">
                <a:solidFill>
                  <a:schemeClr val="accent2"/>
                </a:solidFill>
                <a:latin typeface="Roboto" panose="02000000000000000000" pitchFamily="2" charset="0"/>
                <a:ea typeface="Roboto" panose="02000000000000000000" pitchFamily="2" charset="0"/>
                <a:cs typeface="Roboto" panose="02000000000000000000" pitchFamily="2" charset="0"/>
              </a:rPr>
              <a:t> </a:t>
            </a:r>
            <a:r>
              <a:rPr lang="en-IN" sz="1600" dirty="0">
                <a:latin typeface="Roboto" panose="02000000000000000000" pitchFamily="2" charset="0"/>
                <a:ea typeface="Roboto" panose="02000000000000000000" pitchFamily="2" charset="0"/>
                <a:cs typeface="Roboto" panose="02000000000000000000" pitchFamily="2" charset="0"/>
              </a:rPr>
              <a:t>A synthetic dataset (10,000 records, 14 features) modelled on real industrial milling machine operations, including sensor readings such as air temperature, process temperature, rotational speed, torque, and tool wear, along with binary failure labels and five specific failure-type flags (TWF, HDF, PWF, OSF, RNF).</a:t>
            </a:r>
            <a:endParaRPr sz="1600" dirty="0">
              <a:solidFill>
                <a:schemeClr val="dk1"/>
              </a:solidFill>
              <a:latin typeface="Roboto" panose="02000000000000000000" pitchFamily="2" charset="0"/>
              <a:ea typeface="Roboto" panose="02000000000000000000" pitchFamily="2" charset="0"/>
              <a:cs typeface="Roboto" panose="02000000000000000000" pitchFamily="2" charset="0"/>
              <a:sym typeface="Roboto"/>
            </a:endParaRPr>
          </a:p>
        </p:txBody>
      </p:sp>
      <p:pic>
        <p:nvPicPr>
          <p:cNvPr id="4" name="Picture 3">
            <a:extLst>
              <a:ext uri="{FF2B5EF4-FFF2-40B4-BE49-F238E27FC236}">
                <a16:creationId xmlns:a16="http://schemas.microsoft.com/office/drawing/2014/main" id="{CADE6CA7-979F-262A-DBBC-815087193209}"/>
              </a:ext>
            </a:extLst>
          </p:cNvPr>
          <p:cNvPicPr>
            <a:picLocks noChangeAspect="1"/>
          </p:cNvPicPr>
          <p:nvPr/>
        </p:nvPicPr>
        <p:blipFill>
          <a:blip r:embed="rId4"/>
          <a:stretch>
            <a:fillRect/>
          </a:stretch>
        </p:blipFill>
        <p:spPr>
          <a:xfrm>
            <a:off x="804857" y="3894018"/>
            <a:ext cx="10417443" cy="2105565"/>
          </a:xfrm>
          <a:prstGeom prst="rect">
            <a:avLst/>
          </a:prstGeom>
          <a:ln w="9525">
            <a:solidFill>
              <a:schemeClr val="accent2"/>
            </a:solidFill>
          </a:ln>
        </p:spPr>
      </p:pic>
    </p:spTree>
    <p:extLst>
      <p:ext uri="{BB962C8B-B14F-4D97-AF65-F5344CB8AC3E}">
        <p14:creationId xmlns:p14="http://schemas.microsoft.com/office/powerpoint/2010/main" val="3078855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15"/>
          <p:cNvSpPr txBox="1">
            <a:spLocks noGrp="1"/>
          </p:cNvSpPr>
          <p:nvPr>
            <p:ph type="ctrTitle"/>
          </p:nvPr>
        </p:nvSpPr>
        <p:spPr>
          <a:xfrm>
            <a:off x="0" y="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nSpc>
                <a:spcPct val="150000"/>
              </a:lnSpc>
              <a:spcBef>
                <a:spcPts val="0"/>
              </a:spcBef>
              <a:spcAft>
                <a:spcPts val="2133"/>
              </a:spcAft>
            </a:pPr>
            <a:r>
              <a:rPr lang="en-GB" sz="4000" b="1" dirty="0">
                <a:solidFill>
                  <a:srgbClr val="FFFFFF"/>
                </a:solidFill>
                <a:latin typeface="Roboto"/>
                <a:ea typeface="Roboto"/>
                <a:cs typeface="Roboto"/>
                <a:sym typeface="Roboto"/>
              </a:rPr>
              <a:t>PROPOSED SOLUTION</a:t>
            </a:r>
          </a:p>
        </p:txBody>
      </p:sp>
      <p:sp>
        <p:nvSpPr>
          <p:cNvPr id="352" name="Google Shape;352;p15"/>
          <p:cNvSpPr txBox="1"/>
          <p:nvPr/>
        </p:nvSpPr>
        <p:spPr>
          <a:xfrm>
            <a:off x="0" y="1069600"/>
            <a:ext cx="12192000" cy="5331200"/>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53" name="Google Shape;353;p15"/>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54" name="Google Shape;354;p15"/>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349981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nSpc>
                <a:spcPct val="150000"/>
              </a:lnSpc>
              <a:spcBef>
                <a:spcPts val="0"/>
              </a:spcBef>
              <a:spcAft>
                <a:spcPts val="2133"/>
              </a:spcAft>
            </a:pPr>
            <a:r>
              <a:rPr lang="en-GB" sz="4000" b="1" dirty="0">
                <a:solidFill>
                  <a:srgbClr val="FFFFFF"/>
                </a:solidFill>
                <a:latin typeface="Roboto"/>
                <a:ea typeface="Roboto"/>
                <a:cs typeface="Roboto"/>
                <a:sym typeface="Roboto"/>
              </a:rPr>
              <a:t>CONCLUSION</a:t>
            </a:r>
          </a:p>
        </p:txBody>
      </p:sp>
      <p:sp>
        <p:nvSpPr>
          <p:cNvPr id="392" name="Google Shape;392;p19"/>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3374026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nSpc>
                <a:spcPct val="150000"/>
              </a:lnSpc>
              <a:spcBef>
                <a:spcPts val="0"/>
              </a:spcBef>
              <a:spcAft>
                <a:spcPts val="2133"/>
              </a:spcAft>
            </a:pPr>
            <a:r>
              <a:rPr lang="en-GB" sz="4000" b="1" dirty="0">
                <a:solidFill>
                  <a:srgbClr val="FFFFFF"/>
                </a:solidFill>
                <a:latin typeface="Roboto"/>
                <a:ea typeface="Roboto"/>
                <a:cs typeface="Roboto"/>
                <a:sym typeface="Roboto"/>
              </a:rPr>
              <a:t>FUTURE SCOPE</a:t>
            </a:r>
          </a:p>
        </p:txBody>
      </p:sp>
      <p:sp>
        <p:nvSpPr>
          <p:cNvPr id="392" name="Google Shape;392;p19"/>
          <p:cNvSpPr txBox="1"/>
          <p:nvPr/>
        </p:nvSpPr>
        <p:spPr>
          <a:xfrm>
            <a:off x="0" y="1021534"/>
            <a:ext cx="12192000" cy="5379265"/>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2220828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207</Words>
  <Application>Microsoft Office PowerPoint</Application>
  <PresentationFormat>Widescreen</PresentationFormat>
  <Paragraphs>17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Roboto</vt:lpstr>
      <vt:lpstr>Office Theme</vt:lpstr>
      <vt:lpstr>PowerPoint Presentation</vt:lpstr>
      <vt:lpstr>PROBLEM STATEMENT</vt:lpstr>
      <vt:lpstr>ABOUT THE DATA</vt:lpstr>
      <vt:lpstr>PROPOSED SOLUTION</vt:lpstr>
      <vt:lpstr>CONCLUSION</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Zebion</dc:creator>
  <cp:lastModifiedBy>Juhi Moudekar</cp:lastModifiedBy>
  <cp:revision>5</cp:revision>
  <dcterms:created xsi:type="dcterms:W3CDTF">2022-08-27T05:41:13Z</dcterms:created>
  <dcterms:modified xsi:type="dcterms:W3CDTF">2026-06-19T18:17:26Z</dcterms:modified>
</cp:coreProperties>
</file>